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9" r:id="rId10"/>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10"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108960"/>
            <a:ext cx="12191695" cy="73152"/>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5486400" cy="365760"/>
          </a:xfrm>
          <a:prstGeom prst="rect">
            <a:avLst/>
          </a:prstGeom>
          <a:noFill/>
        </p:spPr>
        <p:txBody>
          <a:bodyPr wrap="square" lIns="0" rIns="0" tIns="0" bIns="0" anchor="t">
            <a:spAutoFit/>
          </a:bodyPr>
          <a:lstStyle/>
          <a:p>
            <a:pPr algn="l"/>
            <a:r>
              <a:rPr sz="1300" b="0">
                <a:solidFill>
                  <a:srgbClr val="FFFFFF"/>
                </a:solidFill>
                <a:latin typeface="Calibri"/>
              </a:rPr>
              <a:t>Duoc UC · Ingeniería en Ciencia de Datos</a:t>
            </a:r>
          </a:p>
        </p:txBody>
      </p:sp>
      <p:sp>
        <p:nvSpPr>
          <p:cNvPr id="5" name="TextBox 4"/>
          <p:cNvSpPr txBox="1"/>
          <p:nvPr/>
        </p:nvSpPr>
        <p:spPr>
          <a:xfrm>
            <a:off x="548640" y="822960"/>
            <a:ext cx="5486400" cy="365760"/>
          </a:xfrm>
          <a:prstGeom prst="rect">
            <a:avLst/>
          </a:prstGeom>
          <a:noFill/>
        </p:spPr>
        <p:txBody>
          <a:bodyPr wrap="square" lIns="0" rIns="0" tIns="0" bIns="0" anchor="t">
            <a:spAutoFit/>
          </a:bodyPr>
          <a:lstStyle/>
          <a:p>
            <a:pPr algn="l"/>
            <a:r>
              <a:rPr sz="1300" b="1">
                <a:solidFill>
                  <a:srgbClr val="E67E22"/>
                </a:solidFill>
                <a:latin typeface="Calibri"/>
              </a:rPr>
              <a:t>SCY1102 · Gestión de Proyectos de Datos</a:t>
            </a:r>
          </a:p>
        </p:txBody>
      </p:sp>
      <p:sp>
        <p:nvSpPr>
          <p:cNvPr id="6" name="TextBox 5"/>
          <p:cNvSpPr txBox="1"/>
          <p:nvPr/>
        </p:nvSpPr>
        <p:spPr>
          <a:xfrm>
            <a:off x="548640" y="2011680"/>
            <a:ext cx="10972800" cy="1097280"/>
          </a:xfrm>
          <a:prstGeom prst="rect">
            <a:avLst/>
          </a:prstGeom>
          <a:noFill/>
        </p:spPr>
        <p:txBody>
          <a:bodyPr wrap="square" lIns="0" rIns="0" tIns="0" bIns="0" anchor="t">
            <a:spAutoFit/>
          </a:bodyPr>
          <a:lstStyle/>
          <a:p>
            <a:pPr algn="l"/>
            <a:r>
              <a:rPr sz="4400" b="1">
                <a:solidFill>
                  <a:srgbClr val="FFFFFF"/>
                </a:solidFill>
                <a:latin typeface="Calibri"/>
              </a:rPr>
              <a:t>Factibilidad ética, financiera y de riesgos</a:t>
            </a:r>
          </a:p>
        </p:txBody>
      </p:sp>
      <p:sp>
        <p:nvSpPr>
          <p:cNvPr id="7" name="TextBox 6"/>
          <p:cNvSpPr txBox="1"/>
          <p:nvPr/>
        </p:nvSpPr>
        <p:spPr>
          <a:xfrm>
            <a:off x="548640" y="3383280"/>
            <a:ext cx="10972800" cy="822960"/>
          </a:xfrm>
          <a:prstGeom prst="rect">
            <a:avLst/>
          </a:prstGeom>
          <a:noFill/>
        </p:spPr>
        <p:txBody>
          <a:bodyPr wrap="square" lIns="0" rIns="0" tIns="0" bIns="0" anchor="t">
            <a:spAutoFit/>
          </a:bodyPr>
          <a:lstStyle/>
          <a:p>
            <a:pPr algn="l"/>
            <a:r>
              <a:rPr sz="2600" b="0">
                <a:solidFill>
                  <a:srgbClr val="E67E22"/>
                </a:solidFill>
                <a:latin typeface="Calibri"/>
              </a:rPr>
              <a:t>Caso 2 — Salud: Costos Médicos y Bienestar del Paciente</a:t>
            </a:r>
          </a:p>
        </p:txBody>
      </p:sp>
      <p:sp>
        <p:nvSpPr>
          <p:cNvPr id="8" name="TextBox 7"/>
          <p:cNvSpPr txBox="1"/>
          <p:nvPr/>
        </p:nvSpPr>
        <p:spPr>
          <a:xfrm>
            <a:off x="548640" y="4846320"/>
            <a:ext cx="10972800" cy="457200"/>
          </a:xfrm>
          <a:prstGeom prst="rect">
            <a:avLst/>
          </a:prstGeom>
          <a:noFill/>
        </p:spPr>
        <p:txBody>
          <a:bodyPr wrap="square" lIns="0" rIns="0" tIns="0" bIns="0" anchor="t">
            <a:spAutoFit/>
          </a:bodyPr>
          <a:lstStyle/>
          <a:p>
            <a:pPr algn="l"/>
            <a:r>
              <a:rPr sz="1600" b="0">
                <a:solidFill>
                  <a:srgbClr val="FFFFFF"/>
                </a:solidFill>
                <a:latin typeface="Calibri"/>
              </a:rPr>
              <a:t>Evaluación Parcial N°2 · Presentación grupal</a:t>
            </a:r>
          </a:p>
        </p:txBody>
      </p:sp>
      <p:sp>
        <p:nvSpPr>
          <p:cNvPr id="9" name="TextBox 8"/>
          <p:cNvSpPr txBox="1"/>
          <p:nvPr/>
        </p:nvSpPr>
        <p:spPr>
          <a:xfrm>
            <a:off x="548640" y="5349240"/>
            <a:ext cx="10972800" cy="457200"/>
          </a:xfrm>
          <a:prstGeom prst="rect">
            <a:avLst/>
          </a:prstGeom>
          <a:noFill/>
        </p:spPr>
        <p:txBody>
          <a:bodyPr wrap="square" lIns="0" rIns="0" tIns="0" bIns="0" anchor="t">
            <a:spAutoFit/>
          </a:bodyPr>
          <a:lstStyle/>
          <a:p>
            <a:pPr algn="l"/>
            <a:r>
              <a:rPr sz="1400" b="0">
                <a:solidFill>
                  <a:srgbClr val="E67E22"/>
                </a:solidFill>
                <a:latin typeface="Calibri"/>
              </a:rPr>
              <a:t>Con evidencia respaldada en Jupyter Notebook (Anexo técnico)</a:t>
            </a:r>
          </a:p>
        </p:txBody>
      </p:sp>
      <p:sp>
        <p:nvSpPr>
          <p:cNvPr id="10" name="TextBox 9"/>
          <p:cNvSpPr txBox="1"/>
          <p:nvPr/>
        </p:nvSpPr>
        <p:spPr>
          <a:xfrm>
            <a:off x="548640" y="5943600"/>
            <a:ext cx="10972800" cy="457200"/>
          </a:xfrm>
          <a:prstGeom prst="rect">
            <a:avLst/>
          </a:prstGeom>
          <a:noFill/>
        </p:spPr>
        <p:txBody>
          <a:bodyPr wrap="square" lIns="0" rIns="0" tIns="0" bIns="0" anchor="t">
            <a:spAutoFit/>
          </a:bodyPr>
          <a:lstStyle/>
          <a:p>
            <a:pPr algn="l"/>
            <a:r>
              <a:rPr sz="1400" b="0">
                <a:solidFill>
                  <a:srgbClr val="FFFFFF"/>
                </a:solidFill>
                <a:latin typeface="Calibri"/>
              </a:rPr>
              <a:t>Integrantes: Diego Medina · Ignacio Arriagada · Javier Tapia · Pedro Ponce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0058400" cy="548640"/>
          </a:xfrm>
          <a:prstGeom prst="rect">
            <a:avLst/>
          </a:prstGeom>
          <a:noFill/>
        </p:spPr>
        <p:txBody>
          <a:bodyPr wrap="square" lIns="0" rIns="0" tIns="0" bIns="0" anchor="ctr">
            <a:spAutoFit/>
          </a:bodyPr>
          <a:lstStyle/>
          <a:p>
            <a:pPr algn="l"/>
            <a:r>
              <a:rPr sz="2400" b="1">
                <a:solidFill>
                  <a:srgbClr val="FFFFFF"/>
                </a:solidFill>
                <a:latin typeface="Calibri"/>
              </a:rPr>
              <a:t>Contexto del proyecto</a:t>
            </a:r>
          </a:p>
        </p:txBody>
      </p:sp>
      <p:sp>
        <p:nvSpPr>
          <p:cNvPr id="5" name="TextBox 4"/>
          <p:cNvSpPr txBox="1"/>
          <p:nvPr/>
        </p:nvSpPr>
        <p:spPr>
          <a:xfrm>
            <a:off x="457200" y="960120"/>
            <a:ext cx="10058400" cy="365760"/>
          </a:xfrm>
          <a:prstGeom prst="rect">
            <a:avLst/>
          </a:prstGeom>
          <a:noFill/>
        </p:spPr>
        <p:txBody>
          <a:bodyPr wrap="square" lIns="0" rIns="0" tIns="0" bIns="0" anchor="ctr">
            <a:spAutoFit/>
          </a:bodyPr>
          <a:lstStyle/>
          <a:p>
            <a:pPr algn="l"/>
            <a:r>
              <a:rPr sz="1300" b="0">
                <a:solidFill>
                  <a:srgbClr val="6B7484"/>
                </a:solidFill>
                <a:latin typeface="Calibri"/>
              </a:rPr>
              <a:t>Aseguradora de salud privada · dataset 1.338 afiliados</a:t>
            </a:r>
          </a:p>
        </p:txBody>
      </p:sp>
      <p:sp>
        <p:nvSpPr>
          <p:cNvPr id="6" name="TextBox 5"/>
          <p:cNvSpPr txBox="1"/>
          <p:nvPr/>
        </p:nvSpPr>
        <p:spPr>
          <a:xfrm>
            <a:off x="10972800" y="137160"/>
            <a:ext cx="1005840" cy="548640"/>
          </a:xfrm>
          <a:prstGeom prst="rect">
            <a:avLst/>
          </a:prstGeom>
          <a:noFill/>
        </p:spPr>
        <p:txBody>
          <a:bodyPr wrap="square" lIns="0" rIns="0" tIns="0" bIns="0" anchor="ctr">
            <a:spAutoFit/>
          </a:bodyPr>
          <a:lstStyle/>
          <a:p>
            <a:pPr algn="r"/>
            <a:r>
              <a:rPr sz="1300" b="1">
                <a:solidFill>
                  <a:srgbClr val="FFFFFF"/>
                </a:solidFill>
                <a:latin typeface="Calibri"/>
              </a:rPr>
              <a:t>2/10</a:t>
            </a:r>
          </a:p>
        </p:txBody>
      </p:sp>
      <p:sp>
        <p:nvSpPr>
          <p:cNvPr id="7" name="TextBox 6"/>
          <p:cNvSpPr txBox="1"/>
          <p:nvPr/>
        </p:nvSpPr>
        <p:spPr>
          <a:xfrm>
            <a:off x="457200" y="6446520"/>
            <a:ext cx="10972800" cy="320040"/>
          </a:xfrm>
          <a:prstGeom prst="rect">
            <a:avLst/>
          </a:prstGeom>
          <a:noFill/>
        </p:spPr>
        <p:txBody>
          <a:bodyPr wrap="square" lIns="0" rIns="0" tIns="0" bIns="0" anchor="t">
            <a:spAutoFit/>
          </a:bodyPr>
          <a:lstStyle/>
          <a:p>
            <a:pPr algn="l"/>
            <a:r>
              <a:rPr sz="900" b="0">
                <a:solidFill>
                  <a:srgbClr val="6B7484"/>
                </a:solidFill>
                <a:latin typeface="Calibri"/>
              </a:rPr>
              <a:t>SCY1102 · Gestión de Proyectos de Datos · Caso 2 Salud · Medina · Arriagada · Tapia · Ponce · Duoc UC 2026</a:t>
            </a:r>
          </a:p>
        </p:txBody>
      </p:sp>
      <p:sp>
        <p:nvSpPr>
          <p:cNvPr id="8" name="Rectangle 7"/>
          <p:cNvSpPr/>
          <p:nvPr/>
        </p:nvSpPr>
        <p:spPr>
          <a:xfrm>
            <a:off x="548640" y="1554480"/>
            <a:ext cx="11064240" cy="128016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554480"/>
            <a:ext cx="128016" cy="12801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691640"/>
            <a:ext cx="10058400" cy="365760"/>
          </a:xfrm>
          <a:prstGeom prst="rect">
            <a:avLst/>
          </a:prstGeom>
          <a:noFill/>
        </p:spPr>
        <p:txBody>
          <a:bodyPr wrap="square" lIns="0" rIns="0" tIns="0" bIns="0" anchor="t">
            <a:spAutoFit/>
          </a:bodyPr>
          <a:lstStyle/>
          <a:p>
            <a:pPr algn="l"/>
            <a:r>
              <a:rPr sz="1600" b="1">
                <a:solidFill>
                  <a:srgbClr val="1F4E79"/>
                </a:solidFill>
                <a:latin typeface="Calibri"/>
              </a:rPr>
              <a:t>Objetivo</a:t>
            </a:r>
          </a:p>
        </p:txBody>
      </p:sp>
      <p:sp>
        <p:nvSpPr>
          <p:cNvPr id="11" name="TextBox 10"/>
          <p:cNvSpPr txBox="1"/>
          <p:nvPr/>
        </p:nvSpPr>
        <p:spPr>
          <a:xfrm>
            <a:off x="914400" y="2103120"/>
            <a:ext cx="10515600" cy="640080"/>
          </a:xfrm>
          <a:prstGeom prst="rect">
            <a:avLst/>
          </a:prstGeom>
          <a:noFill/>
        </p:spPr>
        <p:txBody>
          <a:bodyPr wrap="square" lIns="0" rIns="0" tIns="0" bIns="0" anchor="t">
            <a:spAutoFit/>
          </a:bodyPr>
          <a:lstStyle/>
          <a:p>
            <a:pPr algn="l"/>
            <a:r>
              <a:rPr sz="1300" b="0">
                <a:solidFill>
                  <a:srgbClr val="222B3A"/>
                </a:solidFill>
                <a:latin typeface="Calibri"/>
              </a:rPr>
              <a:t>Estimar costos médicos anuales para planificar presupuestos y focalizar programas preventivos.</a:t>
            </a:r>
          </a:p>
        </p:txBody>
      </p:sp>
      <p:sp>
        <p:nvSpPr>
          <p:cNvPr id="12" name="Rectangle 11"/>
          <p:cNvSpPr/>
          <p:nvPr/>
        </p:nvSpPr>
        <p:spPr>
          <a:xfrm>
            <a:off x="548640" y="3017520"/>
            <a:ext cx="11064240" cy="128016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017520"/>
            <a:ext cx="128016" cy="1280160"/>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154680"/>
            <a:ext cx="10058400" cy="365760"/>
          </a:xfrm>
          <a:prstGeom prst="rect">
            <a:avLst/>
          </a:prstGeom>
          <a:noFill/>
        </p:spPr>
        <p:txBody>
          <a:bodyPr wrap="square" lIns="0" rIns="0" tIns="0" bIns="0" anchor="t">
            <a:spAutoFit/>
          </a:bodyPr>
          <a:lstStyle/>
          <a:p>
            <a:pPr algn="l"/>
            <a:r>
              <a:rPr sz="1600" b="1">
                <a:solidFill>
                  <a:srgbClr val="E67E22"/>
                </a:solidFill>
                <a:latin typeface="Calibri"/>
              </a:rPr>
              <a:t>Dataset</a:t>
            </a:r>
          </a:p>
        </p:txBody>
      </p:sp>
      <p:sp>
        <p:nvSpPr>
          <p:cNvPr id="15" name="TextBox 14"/>
          <p:cNvSpPr txBox="1"/>
          <p:nvPr/>
        </p:nvSpPr>
        <p:spPr>
          <a:xfrm>
            <a:off x="914400" y="3566160"/>
            <a:ext cx="10515600" cy="640080"/>
          </a:xfrm>
          <a:prstGeom prst="rect">
            <a:avLst/>
          </a:prstGeom>
          <a:noFill/>
        </p:spPr>
        <p:txBody>
          <a:bodyPr wrap="square" lIns="0" rIns="0" tIns="0" bIns="0" anchor="t">
            <a:spAutoFit/>
          </a:bodyPr>
          <a:lstStyle/>
          <a:p>
            <a:pPr algn="l"/>
            <a:r>
              <a:rPr sz="1300" b="0">
                <a:solidFill>
                  <a:srgbClr val="222B3A"/>
                </a:solidFill>
                <a:latin typeface="Calibri"/>
              </a:rPr>
              <a:t>1.338 registros · 7 variables · 0 nulos · 1 duplicado</a:t>
            </a:r>
          </a:p>
          <a:p>
            <a:pPr algn="l"/>
            <a:r>
              <a:rPr sz="1300" b="0">
                <a:solidFill>
                  <a:srgbClr val="222B3A"/>
                </a:solidFill>
                <a:latin typeface="Calibri"/>
              </a:rPr>
              <a:t>Edad, sexo, IMC, hijos, tabaquismo, región, charges</a:t>
            </a:r>
          </a:p>
        </p:txBody>
      </p:sp>
      <p:sp>
        <p:nvSpPr>
          <p:cNvPr id="16" name="Rectangle 15"/>
          <p:cNvSpPr/>
          <p:nvPr/>
        </p:nvSpPr>
        <p:spPr>
          <a:xfrm>
            <a:off x="548640" y="4480560"/>
            <a:ext cx="11064240" cy="128016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480560"/>
            <a:ext cx="128016" cy="12801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617720"/>
            <a:ext cx="10058400" cy="365760"/>
          </a:xfrm>
          <a:prstGeom prst="rect">
            <a:avLst/>
          </a:prstGeom>
          <a:noFill/>
        </p:spPr>
        <p:txBody>
          <a:bodyPr wrap="square" lIns="0" rIns="0" tIns="0" bIns="0" anchor="t">
            <a:spAutoFit/>
          </a:bodyPr>
          <a:lstStyle/>
          <a:p>
            <a:pPr algn="l"/>
            <a:r>
              <a:rPr sz="1600" b="1">
                <a:solidFill>
                  <a:srgbClr val="1F4E79"/>
                </a:solidFill>
                <a:latin typeface="Calibri"/>
              </a:rPr>
              <a:t>Uso previsto</a:t>
            </a:r>
          </a:p>
        </p:txBody>
      </p:sp>
      <p:sp>
        <p:nvSpPr>
          <p:cNvPr id="19" name="TextBox 18"/>
          <p:cNvSpPr txBox="1"/>
          <p:nvPr/>
        </p:nvSpPr>
        <p:spPr>
          <a:xfrm>
            <a:off x="914400" y="5029200"/>
            <a:ext cx="10515600" cy="640080"/>
          </a:xfrm>
          <a:prstGeom prst="rect">
            <a:avLst/>
          </a:prstGeom>
          <a:noFill/>
        </p:spPr>
        <p:txBody>
          <a:bodyPr wrap="square" lIns="0" rIns="0" tIns="0" bIns="0" anchor="t">
            <a:spAutoFit/>
          </a:bodyPr>
          <a:lstStyle/>
          <a:p>
            <a:pPr algn="l"/>
            <a:r>
              <a:rPr sz="1300" b="0">
                <a:solidFill>
                  <a:srgbClr val="222B3A"/>
                </a:solidFill>
                <a:latin typeface="Calibri"/>
              </a:rPr>
              <a:t>Reportes agregados y focalización de prevención — NO tarificación individual automatizada.</a:t>
            </a:r>
          </a:p>
        </p:txBody>
      </p:sp>
      <p:sp>
        <p:nvSpPr>
          <p:cNvPr id="20" name="Rectangle 19"/>
          <p:cNvSpPr/>
          <p:nvPr/>
        </p:nvSpPr>
        <p:spPr>
          <a:xfrm>
            <a:off x="9326880" y="6035040"/>
            <a:ext cx="2377440" cy="320040"/>
          </a:xfrm>
          <a:prstGeom prst="rect">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26880" y="6035040"/>
            <a:ext cx="2377440" cy="320040"/>
          </a:xfrm>
          <a:prstGeom prst="rect">
            <a:avLst/>
          </a:prstGeom>
          <a:noFill/>
        </p:spPr>
        <p:txBody>
          <a:bodyPr wrap="square" lIns="0" rIns="0" tIns="0" bIns="0" anchor="ctr">
            <a:spAutoFit/>
          </a:bodyPr>
          <a:lstStyle/>
          <a:p>
            <a:pPr algn="ctr"/>
            <a:r>
              <a:rPr sz="1000" b="1">
                <a:solidFill>
                  <a:srgbClr val="FFFFFF"/>
                </a:solidFill>
                <a:latin typeface="Calibri"/>
              </a:rPr>
              <a:t>Evidencia notebook §1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0058400" cy="548640"/>
          </a:xfrm>
          <a:prstGeom prst="rect">
            <a:avLst/>
          </a:prstGeom>
          <a:noFill/>
        </p:spPr>
        <p:txBody>
          <a:bodyPr wrap="square" lIns="0" rIns="0" tIns="0" bIns="0" anchor="ctr">
            <a:spAutoFit/>
          </a:bodyPr>
          <a:lstStyle/>
          <a:p>
            <a:pPr algn="l"/>
            <a:r>
              <a:rPr sz="2400" b="1">
                <a:solidFill>
                  <a:srgbClr val="FFFFFF"/>
                </a:solidFill>
                <a:latin typeface="Calibri"/>
              </a:rPr>
              <a:t>Hallazgo clave: quién concentra el gasto</a:t>
            </a:r>
          </a:p>
        </p:txBody>
      </p:sp>
      <p:sp>
        <p:nvSpPr>
          <p:cNvPr id="5" name="TextBox 4"/>
          <p:cNvSpPr txBox="1"/>
          <p:nvPr/>
        </p:nvSpPr>
        <p:spPr>
          <a:xfrm>
            <a:off x="457200" y="960120"/>
            <a:ext cx="10058400" cy="365760"/>
          </a:xfrm>
          <a:prstGeom prst="rect">
            <a:avLst/>
          </a:prstGeom>
          <a:noFill/>
        </p:spPr>
        <p:txBody>
          <a:bodyPr wrap="square" lIns="0" rIns="0" tIns="0" bIns="0" anchor="ctr">
            <a:spAutoFit/>
          </a:bodyPr>
          <a:lstStyle/>
          <a:p>
            <a:pPr algn="l"/>
            <a:r>
              <a:rPr sz="1300" b="0">
                <a:solidFill>
                  <a:srgbClr val="6B7484"/>
                </a:solidFill>
                <a:latin typeface="Calibri"/>
              </a:rPr>
              <a:t>Efecto multiplicativo, no aditivo: 4,71× vs un no fumador obeso (notebook §4)</a:t>
            </a:r>
          </a:p>
        </p:txBody>
      </p:sp>
      <p:sp>
        <p:nvSpPr>
          <p:cNvPr id="6" name="TextBox 5"/>
          <p:cNvSpPr txBox="1"/>
          <p:nvPr/>
        </p:nvSpPr>
        <p:spPr>
          <a:xfrm>
            <a:off x="10972800" y="137160"/>
            <a:ext cx="1005840" cy="548640"/>
          </a:xfrm>
          <a:prstGeom prst="rect">
            <a:avLst/>
          </a:prstGeom>
          <a:noFill/>
        </p:spPr>
        <p:txBody>
          <a:bodyPr wrap="square" lIns="0" rIns="0" tIns="0" bIns="0" anchor="ctr">
            <a:spAutoFit/>
          </a:bodyPr>
          <a:lstStyle/>
          <a:p>
            <a:pPr algn="r"/>
            <a:r>
              <a:rPr sz="1300" b="1">
                <a:solidFill>
                  <a:srgbClr val="FFFFFF"/>
                </a:solidFill>
                <a:latin typeface="Calibri"/>
              </a:rPr>
              <a:t>3/10</a:t>
            </a:r>
          </a:p>
        </p:txBody>
      </p:sp>
      <p:sp>
        <p:nvSpPr>
          <p:cNvPr id="7" name="TextBox 6"/>
          <p:cNvSpPr txBox="1"/>
          <p:nvPr/>
        </p:nvSpPr>
        <p:spPr>
          <a:xfrm>
            <a:off x="457200" y="6446520"/>
            <a:ext cx="10972800" cy="320040"/>
          </a:xfrm>
          <a:prstGeom prst="rect">
            <a:avLst/>
          </a:prstGeom>
          <a:noFill/>
        </p:spPr>
        <p:txBody>
          <a:bodyPr wrap="square" lIns="0" rIns="0" tIns="0" bIns="0" anchor="t">
            <a:spAutoFit/>
          </a:bodyPr>
          <a:lstStyle/>
          <a:p>
            <a:pPr algn="l"/>
            <a:r>
              <a:rPr sz="900" b="0">
                <a:solidFill>
                  <a:srgbClr val="6B7484"/>
                </a:solidFill>
                <a:latin typeface="Calibri"/>
              </a:rPr>
              <a:t>SCY1102 · Gestión de Proyectos de Datos · Caso 2 Salud · Medina · Arriagada · Tapia · Ponce · Duoc UC 2026</a:t>
            </a:r>
          </a:p>
        </p:txBody>
      </p:sp>
      <p:pic>
        <p:nvPicPr>
          <p:cNvPr id="8" name="Picture 7" descr="g1_fumador_imc.png"/>
          <p:cNvPicPr>
            <a:picLocks noChangeAspect="1"/>
          </p:cNvPicPr>
          <p:nvPr/>
        </p:nvPicPr>
        <p:blipFill>
          <a:blip r:embed="rId2"/>
          <a:stretch>
            <a:fillRect/>
          </a:stretch>
        </p:blipFill>
        <p:spPr>
          <a:xfrm>
            <a:off x="457200" y="1417320"/>
            <a:ext cx="7772400" cy="4262812"/>
          </a:xfrm>
          <a:prstGeom prst="rect">
            <a:avLst/>
          </a:prstGeom>
        </p:spPr>
      </p:pic>
      <p:sp>
        <p:nvSpPr>
          <p:cNvPr id="9" name="Rectangle 8"/>
          <p:cNvSpPr/>
          <p:nvPr/>
        </p:nvSpPr>
        <p:spPr>
          <a:xfrm>
            <a:off x="8595360" y="1280160"/>
            <a:ext cx="3108960" cy="475488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0" y="1417320"/>
            <a:ext cx="2926080" cy="365760"/>
          </a:xfrm>
          <a:prstGeom prst="rect">
            <a:avLst/>
          </a:prstGeom>
          <a:noFill/>
        </p:spPr>
        <p:txBody>
          <a:bodyPr wrap="square" lIns="0" rIns="0" tIns="0" bIns="0" anchor="t">
            <a:spAutoFit/>
          </a:bodyPr>
          <a:lstStyle/>
          <a:p>
            <a:pPr algn="l"/>
            <a:r>
              <a:rPr sz="1500" b="1">
                <a:solidFill>
                  <a:srgbClr val="1F4E79"/>
                </a:solidFill>
                <a:latin typeface="Calibri"/>
              </a:rPr>
              <a:t>Cifras clave</a:t>
            </a:r>
          </a:p>
        </p:txBody>
      </p:sp>
      <p:sp>
        <p:nvSpPr>
          <p:cNvPr id="11" name="TextBox 10"/>
          <p:cNvSpPr txBox="1"/>
          <p:nvPr/>
        </p:nvSpPr>
        <p:spPr>
          <a:xfrm>
            <a:off x="8778240" y="1965960"/>
            <a:ext cx="2926080" cy="457200"/>
          </a:xfrm>
          <a:prstGeom prst="rect">
            <a:avLst/>
          </a:prstGeom>
          <a:noFill/>
        </p:spPr>
        <p:txBody>
          <a:bodyPr wrap="square" lIns="0" rIns="0" tIns="0" bIns="0" anchor="t">
            <a:spAutoFit/>
          </a:bodyPr>
          <a:lstStyle/>
          <a:p>
            <a:pPr algn="l"/>
            <a:r>
              <a:rPr sz="2200" b="1">
                <a:solidFill>
                  <a:srgbClr val="E67E22"/>
                </a:solidFill>
                <a:latin typeface="Calibri"/>
              </a:rPr>
              <a:t>3,8×</a:t>
            </a:r>
          </a:p>
        </p:txBody>
      </p:sp>
      <p:sp>
        <p:nvSpPr>
          <p:cNvPr id="12" name="TextBox 11"/>
          <p:cNvSpPr txBox="1"/>
          <p:nvPr/>
        </p:nvSpPr>
        <p:spPr>
          <a:xfrm>
            <a:off x="8778240" y="2423160"/>
            <a:ext cx="2926080" cy="320040"/>
          </a:xfrm>
          <a:prstGeom prst="rect">
            <a:avLst/>
          </a:prstGeom>
          <a:noFill/>
        </p:spPr>
        <p:txBody>
          <a:bodyPr wrap="square" lIns="0" rIns="0" tIns="0" bIns="0" anchor="t">
            <a:spAutoFit/>
          </a:bodyPr>
          <a:lstStyle/>
          <a:p>
            <a:pPr algn="l"/>
            <a:r>
              <a:rPr sz="1000" b="0">
                <a:solidFill>
                  <a:srgbClr val="222B3A"/>
                </a:solidFill>
                <a:latin typeface="Calibri"/>
              </a:rPr>
              <a:t>gastan los fumadores</a:t>
            </a:r>
          </a:p>
        </p:txBody>
      </p:sp>
      <p:sp>
        <p:nvSpPr>
          <p:cNvPr id="13" name="TextBox 12"/>
          <p:cNvSpPr txBox="1"/>
          <p:nvPr/>
        </p:nvSpPr>
        <p:spPr>
          <a:xfrm>
            <a:off x="8778240" y="2743200"/>
            <a:ext cx="2926080" cy="457200"/>
          </a:xfrm>
          <a:prstGeom prst="rect">
            <a:avLst/>
          </a:prstGeom>
          <a:noFill/>
        </p:spPr>
        <p:txBody>
          <a:bodyPr wrap="square" lIns="0" rIns="0" tIns="0" bIns="0" anchor="t">
            <a:spAutoFit/>
          </a:bodyPr>
          <a:lstStyle/>
          <a:p>
            <a:pPr algn="l"/>
            <a:r>
              <a:rPr sz="2200" b="1">
                <a:solidFill>
                  <a:srgbClr val="E67E22"/>
                </a:solidFill>
                <a:latin typeface="Calibri"/>
              </a:rPr>
              <a:t>US$ 41.693</a:t>
            </a:r>
          </a:p>
        </p:txBody>
      </p:sp>
      <p:sp>
        <p:nvSpPr>
          <p:cNvPr id="14" name="TextBox 13"/>
          <p:cNvSpPr txBox="1"/>
          <p:nvPr/>
        </p:nvSpPr>
        <p:spPr>
          <a:xfrm>
            <a:off x="8778240" y="3200400"/>
            <a:ext cx="2926080" cy="320040"/>
          </a:xfrm>
          <a:prstGeom prst="rect">
            <a:avLst/>
          </a:prstGeom>
          <a:noFill/>
        </p:spPr>
        <p:txBody>
          <a:bodyPr wrap="square" lIns="0" rIns="0" tIns="0" bIns="0" anchor="t">
            <a:spAutoFit/>
          </a:bodyPr>
          <a:lstStyle/>
          <a:p>
            <a:pPr algn="l"/>
            <a:r>
              <a:rPr sz="1000" b="0">
                <a:solidFill>
                  <a:srgbClr val="222B3A"/>
                </a:solidFill>
                <a:latin typeface="Calibri"/>
              </a:rPr>
              <a:t>promedio fumador+obeso</a:t>
            </a:r>
          </a:p>
        </p:txBody>
      </p:sp>
      <p:sp>
        <p:nvSpPr>
          <p:cNvPr id="15" name="TextBox 14"/>
          <p:cNvSpPr txBox="1"/>
          <p:nvPr/>
        </p:nvSpPr>
        <p:spPr>
          <a:xfrm>
            <a:off x="8778240" y="3520440"/>
            <a:ext cx="2926080" cy="457200"/>
          </a:xfrm>
          <a:prstGeom prst="rect">
            <a:avLst/>
          </a:prstGeom>
          <a:noFill/>
        </p:spPr>
        <p:txBody>
          <a:bodyPr wrap="square" lIns="0" rIns="0" tIns="0" bIns="0" anchor="t">
            <a:spAutoFit/>
          </a:bodyPr>
          <a:lstStyle/>
          <a:p>
            <a:pPr algn="l"/>
            <a:r>
              <a:rPr sz="2200" b="1">
                <a:solidFill>
                  <a:srgbClr val="E67E22"/>
                </a:solidFill>
                <a:latin typeface="Calibri"/>
              </a:rPr>
              <a:t>US$ 8.853</a:t>
            </a:r>
          </a:p>
        </p:txBody>
      </p:sp>
      <p:sp>
        <p:nvSpPr>
          <p:cNvPr id="16" name="TextBox 15"/>
          <p:cNvSpPr txBox="1"/>
          <p:nvPr/>
        </p:nvSpPr>
        <p:spPr>
          <a:xfrm>
            <a:off x="8778240" y="3977640"/>
            <a:ext cx="2926080" cy="320040"/>
          </a:xfrm>
          <a:prstGeom prst="rect">
            <a:avLst/>
          </a:prstGeom>
          <a:noFill/>
        </p:spPr>
        <p:txBody>
          <a:bodyPr wrap="square" lIns="0" rIns="0" tIns="0" bIns="0" anchor="t">
            <a:spAutoFit/>
          </a:bodyPr>
          <a:lstStyle/>
          <a:p>
            <a:pPr algn="l"/>
            <a:r>
              <a:rPr sz="1000" b="0">
                <a:solidFill>
                  <a:srgbClr val="222B3A"/>
                </a:solidFill>
                <a:latin typeface="Calibri"/>
              </a:rPr>
              <a:t>promedio no fumador obeso</a:t>
            </a:r>
          </a:p>
        </p:txBody>
      </p:sp>
      <p:sp>
        <p:nvSpPr>
          <p:cNvPr id="17" name="TextBox 16"/>
          <p:cNvSpPr txBox="1"/>
          <p:nvPr/>
        </p:nvSpPr>
        <p:spPr>
          <a:xfrm>
            <a:off x="8778240" y="4297680"/>
            <a:ext cx="2926080" cy="457200"/>
          </a:xfrm>
          <a:prstGeom prst="rect">
            <a:avLst/>
          </a:prstGeom>
          <a:noFill/>
        </p:spPr>
        <p:txBody>
          <a:bodyPr wrap="square" lIns="0" rIns="0" tIns="0" bIns="0" anchor="t">
            <a:spAutoFit/>
          </a:bodyPr>
          <a:lstStyle/>
          <a:p>
            <a:pPr algn="l"/>
            <a:r>
              <a:rPr sz="2200" b="1">
                <a:solidFill>
                  <a:srgbClr val="E67E22"/>
                </a:solidFill>
                <a:latin typeface="Calibri"/>
              </a:rPr>
              <a:t>20,5 %</a:t>
            </a:r>
          </a:p>
        </p:txBody>
      </p:sp>
      <p:sp>
        <p:nvSpPr>
          <p:cNvPr id="18" name="TextBox 17"/>
          <p:cNvSpPr txBox="1"/>
          <p:nvPr/>
        </p:nvSpPr>
        <p:spPr>
          <a:xfrm>
            <a:off x="8778240" y="4754880"/>
            <a:ext cx="2926080" cy="320040"/>
          </a:xfrm>
          <a:prstGeom prst="rect">
            <a:avLst/>
          </a:prstGeom>
          <a:noFill/>
        </p:spPr>
        <p:txBody>
          <a:bodyPr wrap="square" lIns="0" rIns="0" tIns="0" bIns="0" anchor="t">
            <a:spAutoFit/>
          </a:bodyPr>
          <a:lstStyle/>
          <a:p>
            <a:pPr algn="l"/>
            <a:r>
              <a:rPr sz="1000" b="0">
                <a:solidFill>
                  <a:srgbClr val="222B3A"/>
                </a:solidFill>
                <a:latin typeface="Calibri"/>
              </a:rPr>
              <a:t>afiliados son fumadores</a:t>
            </a:r>
          </a:p>
        </p:txBody>
      </p:sp>
      <p:sp>
        <p:nvSpPr>
          <p:cNvPr id="19" name="TextBox 18"/>
          <p:cNvSpPr txBox="1"/>
          <p:nvPr/>
        </p:nvSpPr>
        <p:spPr>
          <a:xfrm>
            <a:off x="8778240" y="5074920"/>
            <a:ext cx="2926080" cy="457200"/>
          </a:xfrm>
          <a:prstGeom prst="rect">
            <a:avLst/>
          </a:prstGeom>
          <a:noFill/>
        </p:spPr>
        <p:txBody>
          <a:bodyPr wrap="square" lIns="0" rIns="0" tIns="0" bIns="0" anchor="t">
            <a:spAutoFit/>
          </a:bodyPr>
          <a:lstStyle/>
          <a:p>
            <a:pPr algn="l"/>
            <a:r>
              <a:rPr sz="2200" b="1">
                <a:solidFill>
                  <a:srgbClr val="E67E22"/>
                </a:solidFill>
                <a:latin typeface="Calibri"/>
              </a:rPr>
              <a:t>33,8 %</a:t>
            </a:r>
          </a:p>
        </p:txBody>
      </p:sp>
      <p:sp>
        <p:nvSpPr>
          <p:cNvPr id="20" name="TextBox 19"/>
          <p:cNvSpPr txBox="1"/>
          <p:nvPr/>
        </p:nvSpPr>
        <p:spPr>
          <a:xfrm>
            <a:off x="8778240" y="5532120"/>
            <a:ext cx="2926080" cy="320040"/>
          </a:xfrm>
          <a:prstGeom prst="rect">
            <a:avLst/>
          </a:prstGeom>
          <a:noFill/>
        </p:spPr>
        <p:txBody>
          <a:bodyPr wrap="square" lIns="0" rIns="0" tIns="0" bIns="0" anchor="t">
            <a:spAutoFit/>
          </a:bodyPr>
          <a:lstStyle/>
          <a:p>
            <a:pPr algn="l"/>
            <a:r>
              <a:rPr sz="1000" b="0">
                <a:solidFill>
                  <a:srgbClr val="222B3A"/>
                </a:solidFill>
                <a:latin typeface="Calibri"/>
              </a:rPr>
              <a:t>del gasto lo genera el 10,8 % de afiliados</a:t>
            </a:r>
          </a:p>
        </p:txBody>
      </p:sp>
      <p:sp>
        <p:nvSpPr>
          <p:cNvPr id="21" name="Rectangle 20"/>
          <p:cNvSpPr/>
          <p:nvPr/>
        </p:nvSpPr>
        <p:spPr>
          <a:xfrm>
            <a:off x="8778240" y="5989320"/>
            <a:ext cx="2377440" cy="320040"/>
          </a:xfrm>
          <a:prstGeom prst="rect">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78240" y="5989320"/>
            <a:ext cx="2377440" cy="320040"/>
          </a:xfrm>
          <a:prstGeom prst="rect">
            <a:avLst/>
          </a:prstGeom>
          <a:noFill/>
        </p:spPr>
        <p:txBody>
          <a:bodyPr wrap="square" lIns="0" rIns="0" tIns="0" bIns="0" anchor="ctr">
            <a:spAutoFit/>
          </a:bodyPr>
          <a:lstStyle/>
          <a:p>
            <a:pPr algn="ctr"/>
            <a:r>
              <a:rPr sz="1000" b="1">
                <a:solidFill>
                  <a:srgbClr val="FFFFFF"/>
                </a:solidFill>
                <a:latin typeface="Calibri"/>
              </a:rPr>
              <a:t>Evidencia notebook §4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0058400" cy="548640"/>
          </a:xfrm>
          <a:prstGeom prst="rect">
            <a:avLst/>
          </a:prstGeom>
          <a:noFill/>
        </p:spPr>
        <p:txBody>
          <a:bodyPr wrap="square" lIns="0" rIns="0" tIns="0" bIns="0" anchor="ctr">
            <a:spAutoFit/>
          </a:bodyPr>
          <a:lstStyle/>
          <a:p>
            <a:pPr algn="l"/>
            <a:r>
              <a:rPr sz="2400" b="1">
                <a:solidFill>
                  <a:srgbClr val="FFFFFF"/>
                </a:solidFill>
                <a:latin typeface="Calibri"/>
              </a:rPr>
              <a:t>Análisis ético: sesgos detectados</a:t>
            </a:r>
          </a:p>
        </p:txBody>
      </p:sp>
      <p:sp>
        <p:nvSpPr>
          <p:cNvPr id="5" name="TextBox 4"/>
          <p:cNvSpPr txBox="1"/>
          <p:nvPr/>
        </p:nvSpPr>
        <p:spPr>
          <a:xfrm>
            <a:off x="457200" y="960120"/>
            <a:ext cx="10058400" cy="365760"/>
          </a:xfrm>
          <a:prstGeom prst="rect">
            <a:avLst/>
          </a:prstGeom>
          <a:noFill/>
        </p:spPr>
        <p:txBody>
          <a:bodyPr wrap="square" lIns="0" rIns="0" tIns="0" bIns="0" anchor="ctr">
            <a:spAutoFit/>
          </a:bodyPr>
          <a:lstStyle/>
          <a:p>
            <a:pPr algn="l"/>
            <a:r>
              <a:rPr sz="1300" b="0">
                <a:solidFill>
                  <a:srgbClr val="6B7484"/>
                </a:solidFill>
                <a:latin typeface="Calibri"/>
              </a:rPr>
              <a:t>Cuantificados con Notebook §5</a:t>
            </a:r>
          </a:p>
        </p:txBody>
      </p:sp>
      <p:sp>
        <p:nvSpPr>
          <p:cNvPr id="6" name="TextBox 5"/>
          <p:cNvSpPr txBox="1"/>
          <p:nvPr/>
        </p:nvSpPr>
        <p:spPr>
          <a:xfrm>
            <a:off x="10972800" y="137160"/>
            <a:ext cx="1005840" cy="548640"/>
          </a:xfrm>
          <a:prstGeom prst="rect">
            <a:avLst/>
          </a:prstGeom>
          <a:noFill/>
        </p:spPr>
        <p:txBody>
          <a:bodyPr wrap="square" lIns="0" rIns="0" tIns="0" bIns="0" anchor="ctr">
            <a:spAutoFit/>
          </a:bodyPr>
          <a:lstStyle/>
          <a:p>
            <a:pPr algn="r"/>
            <a:r>
              <a:rPr sz="1300" b="1">
                <a:solidFill>
                  <a:srgbClr val="FFFFFF"/>
                </a:solidFill>
                <a:latin typeface="Calibri"/>
              </a:rPr>
              <a:t>4/10</a:t>
            </a:r>
          </a:p>
        </p:txBody>
      </p:sp>
      <p:sp>
        <p:nvSpPr>
          <p:cNvPr id="7" name="TextBox 6"/>
          <p:cNvSpPr txBox="1"/>
          <p:nvPr/>
        </p:nvSpPr>
        <p:spPr>
          <a:xfrm>
            <a:off x="457200" y="6446520"/>
            <a:ext cx="10972800" cy="320040"/>
          </a:xfrm>
          <a:prstGeom prst="rect">
            <a:avLst/>
          </a:prstGeom>
          <a:noFill/>
        </p:spPr>
        <p:txBody>
          <a:bodyPr wrap="square" lIns="0" rIns="0" tIns="0" bIns="0" anchor="t">
            <a:spAutoFit/>
          </a:bodyPr>
          <a:lstStyle/>
          <a:p>
            <a:pPr algn="l"/>
            <a:r>
              <a:rPr sz="900" b="0">
                <a:solidFill>
                  <a:srgbClr val="6B7484"/>
                </a:solidFill>
                <a:latin typeface="Calibri"/>
              </a:rPr>
              <a:t>SCY1102 · Gestión de Proyectos de Datos · Caso 2 Salud · Medina · Arriagada · Tapia · Ponce · Duoc UC 2026</a:t>
            </a:r>
          </a:p>
        </p:txBody>
      </p:sp>
      <p:sp>
        <p:nvSpPr>
          <p:cNvPr id="8" name="Rectangle 7"/>
          <p:cNvSpPr/>
          <p:nvPr/>
        </p:nvSpPr>
        <p:spPr>
          <a:xfrm>
            <a:off x="548640" y="1554480"/>
            <a:ext cx="3749039" cy="192024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554480"/>
            <a:ext cx="3749039" cy="4572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600200"/>
            <a:ext cx="3383279" cy="365760"/>
          </a:xfrm>
          <a:prstGeom prst="rect">
            <a:avLst/>
          </a:prstGeom>
          <a:noFill/>
        </p:spPr>
        <p:txBody>
          <a:bodyPr wrap="square" lIns="0" rIns="0" tIns="0" bIns="0" anchor="ctr">
            <a:spAutoFit/>
          </a:bodyPr>
          <a:lstStyle/>
          <a:p>
            <a:pPr algn="l"/>
            <a:r>
              <a:rPr sz="1400" b="1">
                <a:solidFill>
                  <a:srgbClr val="FFFFFF"/>
                </a:solidFill>
                <a:latin typeface="Calibri"/>
              </a:rPr>
              <a:t>Geográfico</a:t>
            </a:r>
          </a:p>
        </p:txBody>
      </p:sp>
      <p:sp>
        <p:nvSpPr>
          <p:cNvPr id="11" name="TextBox 10"/>
          <p:cNvSpPr txBox="1"/>
          <p:nvPr/>
        </p:nvSpPr>
        <p:spPr>
          <a:xfrm>
            <a:off x="731520" y="2148840"/>
            <a:ext cx="3383279" cy="1188720"/>
          </a:xfrm>
          <a:prstGeom prst="rect">
            <a:avLst/>
          </a:prstGeom>
          <a:noFill/>
        </p:spPr>
        <p:txBody>
          <a:bodyPr wrap="square" lIns="0" rIns="0" tIns="0" bIns="0" anchor="t">
            <a:spAutoFit/>
          </a:bodyPr>
          <a:lstStyle/>
          <a:p>
            <a:pPr algn="l"/>
            <a:r>
              <a:rPr sz="1200" b="0">
                <a:solidFill>
                  <a:srgbClr val="222B3A"/>
                </a:solidFill>
                <a:latin typeface="Calibri"/>
              </a:rPr>
              <a:t>Datos de EE.UU. — no representa Chile.</a:t>
            </a:r>
          </a:p>
        </p:txBody>
      </p:sp>
      <p:sp>
        <p:nvSpPr>
          <p:cNvPr id="12" name="Rectangle 11"/>
          <p:cNvSpPr/>
          <p:nvPr/>
        </p:nvSpPr>
        <p:spPr>
          <a:xfrm>
            <a:off x="4434839" y="1554480"/>
            <a:ext cx="3749039" cy="192024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34839" y="1554480"/>
            <a:ext cx="3749039" cy="4572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19" y="1600200"/>
            <a:ext cx="3383279" cy="365760"/>
          </a:xfrm>
          <a:prstGeom prst="rect">
            <a:avLst/>
          </a:prstGeom>
          <a:noFill/>
        </p:spPr>
        <p:txBody>
          <a:bodyPr wrap="square" lIns="0" rIns="0" tIns="0" bIns="0" anchor="ctr">
            <a:spAutoFit/>
          </a:bodyPr>
          <a:lstStyle/>
          <a:p>
            <a:pPr algn="l"/>
            <a:r>
              <a:rPr sz="1400" b="1">
                <a:solidFill>
                  <a:srgbClr val="FFFFFF"/>
                </a:solidFill>
                <a:latin typeface="Calibri"/>
              </a:rPr>
              <a:t>Tabaquismo</a:t>
            </a:r>
          </a:p>
        </p:txBody>
      </p:sp>
      <p:sp>
        <p:nvSpPr>
          <p:cNvPr id="15" name="TextBox 14"/>
          <p:cNvSpPr txBox="1"/>
          <p:nvPr/>
        </p:nvSpPr>
        <p:spPr>
          <a:xfrm>
            <a:off x="4617719" y="2148840"/>
            <a:ext cx="3383279" cy="1188720"/>
          </a:xfrm>
          <a:prstGeom prst="rect">
            <a:avLst/>
          </a:prstGeom>
          <a:noFill/>
        </p:spPr>
        <p:txBody>
          <a:bodyPr wrap="square" lIns="0" rIns="0" tIns="0" bIns="0" anchor="t">
            <a:spAutoFit/>
          </a:bodyPr>
          <a:lstStyle/>
          <a:p>
            <a:pPr algn="l"/>
            <a:r>
              <a:rPr sz="1200" b="0">
                <a:solidFill>
                  <a:srgbClr val="222B3A"/>
                </a:solidFill>
                <a:latin typeface="Calibri"/>
              </a:rPr>
              <a:t>Solo 20,5 % fumadores (274/1338).</a:t>
            </a:r>
          </a:p>
        </p:txBody>
      </p:sp>
      <p:sp>
        <p:nvSpPr>
          <p:cNvPr id="16" name="Rectangle 15"/>
          <p:cNvSpPr/>
          <p:nvPr/>
        </p:nvSpPr>
        <p:spPr>
          <a:xfrm>
            <a:off x="8321038" y="1554480"/>
            <a:ext cx="3749039" cy="192024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21038" y="1554480"/>
            <a:ext cx="3749039" cy="4572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18" y="1600200"/>
            <a:ext cx="3383279" cy="365760"/>
          </a:xfrm>
          <a:prstGeom prst="rect">
            <a:avLst/>
          </a:prstGeom>
          <a:noFill/>
        </p:spPr>
        <p:txBody>
          <a:bodyPr wrap="square" lIns="0" rIns="0" tIns="0" bIns="0" anchor="ctr">
            <a:spAutoFit/>
          </a:bodyPr>
          <a:lstStyle/>
          <a:p>
            <a:pPr algn="l"/>
            <a:r>
              <a:rPr sz="1400" b="1">
                <a:solidFill>
                  <a:srgbClr val="FFFFFF"/>
                </a:solidFill>
                <a:latin typeface="Calibri"/>
              </a:rPr>
              <a:t>IMC bajo</a:t>
            </a:r>
          </a:p>
        </p:txBody>
      </p:sp>
      <p:sp>
        <p:nvSpPr>
          <p:cNvPr id="19" name="TextBox 18"/>
          <p:cNvSpPr txBox="1"/>
          <p:nvPr/>
        </p:nvSpPr>
        <p:spPr>
          <a:xfrm>
            <a:off x="8503918" y="2148840"/>
            <a:ext cx="3383279" cy="1188720"/>
          </a:xfrm>
          <a:prstGeom prst="rect">
            <a:avLst/>
          </a:prstGeom>
          <a:noFill/>
        </p:spPr>
        <p:txBody>
          <a:bodyPr wrap="square" lIns="0" rIns="0" tIns="0" bIns="0" anchor="t">
            <a:spAutoFit/>
          </a:bodyPr>
          <a:lstStyle/>
          <a:p>
            <a:pPr algn="l"/>
            <a:r>
              <a:rPr sz="1200" b="0">
                <a:solidFill>
                  <a:srgbClr val="222B3A"/>
                </a:solidFill>
                <a:latin typeface="Calibri"/>
              </a:rPr>
              <a:t>Solo 20 casos (1,5 %) → no confiable.</a:t>
            </a:r>
          </a:p>
        </p:txBody>
      </p:sp>
      <p:sp>
        <p:nvSpPr>
          <p:cNvPr id="20" name="Rectangle 19"/>
          <p:cNvSpPr/>
          <p:nvPr/>
        </p:nvSpPr>
        <p:spPr>
          <a:xfrm>
            <a:off x="548640" y="3657600"/>
            <a:ext cx="3749039" cy="192024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3657600"/>
            <a:ext cx="3749039" cy="4572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3703320"/>
            <a:ext cx="3383279" cy="365760"/>
          </a:xfrm>
          <a:prstGeom prst="rect">
            <a:avLst/>
          </a:prstGeom>
          <a:noFill/>
        </p:spPr>
        <p:txBody>
          <a:bodyPr wrap="square" lIns="0" rIns="0" tIns="0" bIns="0" anchor="ctr">
            <a:spAutoFit/>
          </a:bodyPr>
          <a:lstStyle/>
          <a:p>
            <a:pPr algn="l"/>
            <a:r>
              <a:rPr sz="1400" b="1">
                <a:solidFill>
                  <a:srgbClr val="FFFFFF"/>
                </a:solidFill>
                <a:latin typeface="Calibri"/>
              </a:rPr>
              <a:t>Género binario</a:t>
            </a:r>
          </a:p>
        </p:txBody>
      </p:sp>
      <p:sp>
        <p:nvSpPr>
          <p:cNvPr id="23" name="TextBox 22"/>
          <p:cNvSpPr txBox="1"/>
          <p:nvPr/>
        </p:nvSpPr>
        <p:spPr>
          <a:xfrm>
            <a:off x="731520" y="4251960"/>
            <a:ext cx="3383279" cy="1188720"/>
          </a:xfrm>
          <a:prstGeom prst="rect">
            <a:avLst/>
          </a:prstGeom>
          <a:noFill/>
        </p:spPr>
        <p:txBody>
          <a:bodyPr wrap="square" lIns="0" rIns="0" tIns="0" bIns="0" anchor="t">
            <a:spAutoFit/>
          </a:bodyPr>
          <a:lstStyle/>
          <a:p>
            <a:pPr algn="l"/>
            <a:r>
              <a:rPr sz="1200" b="0">
                <a:solidFill>
                  <a:srgbClr val="222B3A"/>
                </a:solidFill>
                <a:latin typeface="Calibri"/>
              </a:rPr>
              <a:t>Excluye personas no binarias/trans.</a:t>
            </a:r>
          </a:p>
        </p:txBody>
      </p:sp>
      <p:sp>
        <p:nvSpPr>
          <p:cNvPr id="24" name="Rectangle 23"/>
          <p:cNvSpPr/>
          <p:nvPr/>
        </p:nvSpPr>
        <p:spPr>
          <a:xfrm>
            <a:off x="4434839" y="3657600"/>
            <a:ext cx="3749039" cy="192024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434839" y="3657600"/>
            <a:ext cx="3749039" cy="4572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17719" y="3703320"/>
            <a:ext cx="3383279" cy="365760"/>
          </a:xfrm>
          <a:prstGeom prst="rect">
            <a:avLst/>
          </a:prstGeom>
          <a:noFill/>
        </p:spPr>
        <p:txBody>
          <a:bodyPr wrap="square" lIns="0" rIns="0" tIns="0" bIns="0" anchor="ctr">
            <a:spAutoFit/>
          </a:bodyPr>
          <a:lstStyle/>
          <a:p>
            <a:pPr algn="l"/>
            <a:r>
              <a:rPr sz="1400" b="1">
                <a:solidFill>
                  <a:srgbClr val="FFFFFF"/>
                </a:solidFill>
                <a:latin typeface="Calibri"/>
              </a:rPr>
              <a:t>Variables omitidas</a:t>
            </a:r>
          </a:p>
        </p:txBody>
      </p:sp>
      <p:sp>
        <p:nvSpPr>
          <p:cNvPr id="27" name="TextBox 26"/>
          <p:cNvSpPr txBox="1"/>
          <p:nvPr/>
        </p:nvSpPr>
        <p:spPr>
          <a:xfrm>
            <a:off x="4617719" y="4251960"/>
            <a:ext cx="3383279" cy="1188720"/>
          </a:xfrm>
          <a:prstGeom prst="rect">
            <a:avLst/>
          </a:prstGeom>
          <a:noFill/>
        </p:spPr>
        <p:txBody>
          <a:bodyPr wrap="square" lIns="0" rIns="0" tIns="0" bIns="0" anchor="t">
            <a:spAutoFit/>
          </a:bodyPr>
          <a:lstStyle/>
          <a:p>
            <a:pPr algn="l"/>
            <a:r>
              <a:rPr sz="1200" b="0">
                <a:solidFill>
                  <a:srgbClr val="222B3A"/>
                </a:solidFill>
                <a:latin typeface="Calibri"/>
              </a:rPr>
              <a:t>Sin ingreso/educación. Región = proxy.</a:t>
            </a:r>
          </a:p>
        </p:txBody>
      </p:sp>
      <p:sp>
        <p:nvSpPr>
          <p:cNvPr id="28" name="Rectangle 27"/>
          <p:cNvSpPr/>
          <p:nvPr/>
        </p:nvSpPr>
        <p:spPr>
          <a:xfrm>
            <a:off x="8321038" y="3657600"/>
            <a:ext cx="3749039" cy="192024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321038" y="3657600"/>
            <a:ext cx="3749039" cy="4572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03918" y="3703320"/>
            <a:ext cx="3383279" cy="365760"/>
          </a:xfrm>
          <a:prstGeom prst="rect">
            <a:avLst/>
          </a:prstGeom>
          <a:noFill/>
        </p:spPr>
        <p:txBody>
          <a:bodyPr wrap="square" lIns="0" rIns="0" tIns="0" bIns="0" anchor="ctr">
            <a:spAutoFit/>
          </a:bodyPr>
          <a:lstStyle/>
          <a:p>
            <a:pPr algn="l"/>
            <a:r>
              <a:rPr sz="1400" b="1">
                <a:solidFill>
                  <a:srgbClr val="FFFFFF"/>
                </a:solidFill>
                <a:latin typeface="Calibri"/>
              </a:rPr>
              <a:t>Histórico</a:t>
            </a:r>
          </a:p>
        </p:txBody>
      </p:sp>
      <p:sp>
        <p:nvSpPr>
          <p:cNvPr id="31" name="TextBox 30"/>
          <p:cNvSpPr txBox="1"/>
          <p:nvPr/>
        </p:nvSpPr>
        <p:spPr>
          <a:xfrm>
            <a:off x="8503918" y="4251960"/>
            <a:ext cx="3383279" cy="1188720"/>
          </a:xfrm>
          <a:prstGeom prst="rect">
            <a:avLst/>
          </a:prstGeom>
          <a:noFill/>
        </p:spPr>
        <p:txBody>
          <a:bodyPr wrap="square" lIns="0" rIns="0" tIns="0" bIns="0" anchor="t">
            <a:spAutoFit/>
          </a:bodyPr>
          <a:lstStyle/>
          <a:p>
            <a:pPr algn="l"/>
            <a:r>
              <a:rPr sz="1200" b="0">
                <a:solidFill>
                  <a:srgbClr val="222B3A"/>
                </a:solidFill>
                <a:latin typeface="Calibri"/>
              </a:rPr>
              <a:t>Reproduce discriminación previa.</a:t>
            </a:r>
          </a:p>
        </p:txBody>
      </p:sp>
      <p:sp>
        <p:nvSpPr>
          <p:cNvPr id="32" name="Rectangle 31"/>
          <p:cNvSpPr/>
          <p:nvPr/>
        </p:nvSpPr>
        <p:spPr>
          <a:xfrm>
            <a:off x="9326880" y="5989320"/>
            <a:ext cx="2377440" cy="320040"/>
          </a:xfrm>
          <a:prstGeom prst="rect">
            <a:avLst/>
          </a:prstGeom>
          <a:solidFill>
            <a:srgbClr val="0B53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326880" y="5989320"/>
            <a:ext cx="2377440" cy="320040"/>
          </a:xfrm>
          <a:prstGeom prst="rect">
            <a:avLst/>
          </a:prstGeom>
          <a:noFill/>
        </p:spPr>
        <p:txBody>
          <a:bodyPr wrap="square" lIns="0" rIns="0" tIns="0" bIns="0" anchor="ctr">
            <a:spAutoFit/>
          </a:bodyPr>
          <a:lstStyle/>
          <a:p>
            <a:pPr algn="ctr"/>
            <a:r>
              <a:rPr sz="1000" b="1">
                <a:solidFill>
                  <a:srgbClr val="FFFFFF"/>
                </a:solidFill>
                <a:latin typeface="Calibri"/>
              </a:rPr>
              <a:t>Evidencia notebook §5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0058400" cy="548640"/>
          </a:xfrm>
          <a:prstGeom prst="rect">
            <a:avLst/>
          </a:prstGeom>
          <a:noFill/>
        </p:spPr>
        <p:txBody>
          <a:bodyPr wrap="square" lIns="0" rIns="0" tIns="0" bIns="0" anchor="ctr">
            <a:spAutoFit/>
          </a:bodyPr>
          <a:lstStyle/>
          <a:p>
            <a:pPr algn="l"/>
            <a:r>
              <a:rPr sz="2400" b="1">
                <a:solidFill>
                  <a:srgbClr val="FFFFFF"/>
                </a:solidFill>
                <a:latin typeface="Calibri"/>
              </a:rPr>
              <a:t>Evidencia: sesgos cuantificados en el código</a:t>
            </a:r>
          </a:p>
        </p:txBody>
      </p:sp>
      <p:sp>
        <p:nvSpPr>
          <p:cNvPr id="5" name="TextBox 4"/>
          <p:cNvSpPr txBox="1"/>
          <p:nvPr/>
        </p:nvSpPr>
        <p:spPr>
          <a:xfrm>
            <a:off x="457200" y="960120"/>
            <a:ext cx="10058400" cy="365760"/>
          </a:xfrm>
          <a:prstGeom prst="rect">
            <a:avLst/>
          </a:prstGeom>
          <a:noFill/>
        </p:spPr>
        <p:txBody>
          <a:bodyPr wrap="square" lIns="0" rIns="0" tIns="0" bIns="0" anchor="ctr">
            <a:spAutoFit/>
          </a:bodyPr>
          <a:lstStyle/>
          <a:p>
            <a:pPr algn="l"/>
            <a:r>
              <a:rPr sz="1300" b="0">
                <a:solidFill>
                  <a:srgbClr val="6B7484"/>
                </a:solidFill>
                <a:latin typeface="Calibri"/>
              </a:rPr>
              <a:t>Notebook §5 — todos los números son reproducibles</a:t>
            </a:r>
          </a:p>
        </p:txBody>
      </p:sp>
      <p:sp>
        <p:nvSpPr>
          <p:cNvPr id="6" name="TextBox 5"/>
          <p:cNvSpPr txBox="1"/>
          <p:nvPr/>
        </p:nvSpPr>
        <p:spPr>
          <a:xfrm>
            <a:off x="10972800" y="137160"/>
            <a:ext cx="1005840" cy="548640"/>
          </a:xfrm>
          <a:prstGeom prst="rect">
            <a:avLst/>
          </a:prstGeom>
          <a:noFill/>
        </p:spPr>
        <p:txBody>
          <a:bodyPr wrap="square" lIns="0" rIns="0" tIns="0" bIns="0" anchor="ctr">
            <a:spAutoFit/>
          </a:bodyPr>
          <a:lstStyle/>
          <a:p>
            <a:pPr algn="r"/>
            <a:r>
              <a:rPr sz="1300" b="1">
                <a:solidFill>
                  <a:srgbClr val="FFFFFF"/>
                </a:solidFill>
                <a:latin typeface="Calibri"/>
              </a:rPr>
              <a:t>5/10</a:t>
            </a:r>
          </a:p>
        </p:txBody>
      </p:sp>
      <p:sp>
        <p:nvSpPr>
          <p:cNvPr id="7" name="TextBox 6"/>
          <p:cNvSpPr txBox="1"/>
          <p:nvPr/>
        </p:nvSpPr>
        <p:spPr>
          <a:xfrm>
            <a:off x="457200" y="6446520"/>
            <a:ext cx="10972800" cy="320040"/>
          </a:xfrm>
          <a:prstGeom prst="rect">
            <a:avLst/>
          </a:prstGeom>
          <a:noFill/>
        </p:spPr>
        <p:txBody>
          <a:bodyPr wrap="square" lIns="0" rIns="0" tIns="0" bIns="0" anchor="t">
            <a:spAutoFit/>
          </a:bodyPr>
          <a:lstStyle/>
          <a:p>
            <a:pPr algn="l"/>
            <a:r>
              <a:rPr sz="900" b="0">
                <a:solidFill>
                  <a:srgbClr val="6B7484"/>
                </a:solidFill>
                <a:latin typeface="Calibri"/>
              </a:rPr>
              <a:t>SCY1102 · Gestión de Proyectos de Datos · Caso 2 Salud · Medina · Arriagada · Tapia · Ponce · Duoc UC 2026</a:t>
            </a:r>
          </a:p>
        </p:txBody>
      </p:sp>
      <p:pic>
        <p:nvPicPr>
          <p:cNvPr id="8" name="Picture 7" descr="nb_cap_4_sesgos.png"/>
          <p:cNvPicPr>
            <a:picLocks noChangeAspect="1"/>
          </p:cNvPicPr>
          <p:nvPr/>
        </p:nvPicPr>
        <p:blipFill>
          <a:blip r:embed="rId2"/>
          <a:stretch>
            <a:fillRect/>
          </a:stretch>
        </p:blipFill>
        <p:spPr>
          <a:xfrm>
            <a:off x="719153" y="1417320"/>
            <a:ext cx="8162894" cy="4937760"/>
          </a:xfrm>
          <a:prstGeom prst="rect">
            <a:avLst/>
          </a:prstGeom>
        </p:spPr>
      </p:pic>
      <p:sp>
        <p:nvSpPr>
          <p:cNvPr id="9" name="Rectangle 8"/>
          <p:cNvSpPr/>
          <p:nvPr/>
        </p:nvSpPr>
        <p:spPr>
          <a:xfrm>
            <a:off x="9418320" y="1188720"/>
            <a:ext cx="2377440" cy="493776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0" y="1371600"/>
            <a:ext cx="2194560" cy="457200"/>
          </a:xfrm>
          <a:prstGeom prst="rect">
            <a:avLst/>
          </a:prstGeom>
          <a:noFill/>
        </p:spPr>
        <p:txBody>
          <a:bodyPr wrap="square" lIns="0" rIns="0" tIns="0" bIns="0" anchor="t">
            <a:spAutoFit/>
          </a:bodyPr>
          <a:lstStyle/>
          <a:p>
            <a:pPr algn="l"/>
            <a:r>
              <a:rPr sz="1300" b="1">
                <a:solidFill>
                  <a:srgbClr val="1F4E79"/>
                </a:solidFill>
                <a:latin typeface="Calibri"/>
              </a:rPr>
              <a:t>Hallazgos</a:t>
            </a:r>
          </a:p>
        </p:txBody>
      </p:sp>
      <p:sp>
        <p:nvSpPr>
          <p:cNvPr id="11" name="TextBox 10"/>
          <p:cNvSpPr txBox="1"/>
          <p:nvPr/>
        </p:nvSpPr>
        <p:spPr>
          <a:xfrm>
            <a:off x="9509760" y="1783080"/>
            <a:ext cx="182880" cy="320040"/>
          </a:xfrm>
          <a:prstGeom prst="rect">
            <a:avLst/>
          </a:prstGeom>
          <a:noFill/>
        </p:spPr>
        <p:txBody>
          <a:bodyPr wrap="square" lIns="0" rIns="0" tIns="0" bIns="0" anchor="t">
            <a:spAutoFit/>
          </a:bodyPr>
          <a:lstStyle/>
          <a:p>
            <a:pPr algn="l"/>
            <a:r>
              <a:rPr sz="1300" b="1">
                <a:solidFill>
                  <a:srgbClr val="E67E22"/>
                </a:solidFill>
                <a:latin typeface="Calibri"/>
              </a:rPr>
              <a:t>•</a:t>
            </a:r>
          </a:p>
        </p:txBody>
      </p:sp>
      <p:sp>
        <p:nvSpPr>
          <p:cNvPr id="12" name="TextBox 11"/>
          <p:cNvSpPr txBox="1"/>
          <p:nvPr/>
        </p:nvSpPr>
        <p:spPr>
          <a:xfrm>
            <a:off x="9692640" y="1783080"/>
            <a:ext cx="2011680" cy="640080"/>
          </a:xfrm>
          <a:prstGeom prst="rect">
            <a:avLst/>
          </a:prstGeom>
          <a:noFill/>
        </p:spPr>
        <p:txBody>
          <a:bodyPr wrap="square" lIns="0" rIns="0" tIns="0" bIns="0" anchor="t">
            <a:spAutoFit/>
          </a:bodyPr>
          <a:lstStyle/>
          <a:p>
            <a:pPr algn="l"/>
            <a:r>
              <a:rPr sz="1050" b="0">
                <a:solidFill>
                  <a:srgbClr val="222B3A"/>
                </a:solidFill>
                <a:latin typeface="Calibri"/>
              </a:rPr>
              <a:t>IMC bajo: 20 casos (1,5 %)</a:t>
            </a:r>
          </a:p>
        </p:txBody>
      </p:sp>
      <p:sp>
        <p:nvSpPr>
          <p:cNvPr id="13" name="TextBox 12"/>
          <p:cNvSpPr txBox="1"/>
          <p:nvPr/>
        </p:nvSpPr>
        <p:spPr>
          <a:xfrm>
            <a:off x="9509760" y="2560320"/>
            <a:ext cx="182880" cy="320040"/>
          </a:xfrm>
          <a:prstGeom prst="rect">
            <a:avLst/>
          </a:prstGeom>
          <a:noFill/>
        </p:spPr>
        <p:txBody>
          <a:bodyPr wrap="square" lIns="0" rIns="0" tIns="0" bIns="0" anchor="t">
            <a:spAutoFit/>
          </a:bodyPr>
          <a:lstStyle/>
          <a:p>
            <a:pPr algn="l"/>
            <a:r>
              <a:rPr sz="1300" b="1">
                <a:solidFill>
                  <a:srgbClr val="E67E22"/>
                </a:solidFill>
                <a:latin typeface="Calibri"/>
              </a:rPr>
              <a:t>•</a:t>
            </a:r>
          </a:p>
        </p:txBody>
      </p:sp>
      <p:sp>
        <p:nvSpPr>
          <p:cNvPr id="14" name="TextBox 13"/>
          <p:cNvSpPr txBox="1"/>
          <p:nvPr/>
        </p:nvSpPr>
        <p:spPr>
          <a:xfrm>
            <a:off x="9692640" y="2560320"/>
            <a:ext cx="2011680" cy="640080"/>
          </a:xfrm>
          <a:prstGeom prst="rect">
            <a:avLst/>
          </a:prstGeom>
          <a:noFill/>
        </p:spPr>
        <p:txBody>
          <a:bodyPr wrap="square" lIns="0" rIns="0" tIns="0" bIns="0" anchor="t">
            <a:spAutoFit/>
          </a:bodyPr>
          <a:lstStyle/>
          <a:p>
            <a:pPr algn="l"/>
            <a:r>
              <a:rPr sz="1050" b="0">
                <a:solidFill>
                  <a:srgbClr val="222B3A"/>
                </a:solidFill>
                <a:latin typeface="Calibri"/>
              </a:rPr>
              <a:t>Fumadores: 274 (20,5 %)</a:t>
            </a:r>
          </a:p>
        </p:txBody>
      </p:sp>
      <p:sp>
        <p:nvSpPr>
          <p:cNvPr id="15" name="TextBox 14"/>
          <p:cNvSpPr txBox="1"/>
          <p:nvPr/>
        </p:nvSpPr>
        <p:spPr>
          <a:xfrm>
            <a:off x="9509760" y="3337560"/>
            <a:ext cx="182880" cy="320040"/>
          </a:xfrm>
          <a:prstGeom prst="rect">
            <a:avLst/>
          </a:prstGeom>
          <a:noFill/>
        </p:spPr>
        <p:txBody>
          <a:bodyPr wrap="square" lIns="0" rIns="0" tIns="0" bIns="0" anchor="t">
            <a:spAutoFit/>
          </a:bodyPr>
          <a:lstStyle/>
          <a:p>
            <a:pPr algn="l"/>
            <a:r>
              <a:rPr sz="1300" b="1">
                <a:solidFill>
                  <a:srgbClr val="E67E22"/>
                </a:solidFill>
                <a:latin typeface="Calibri"/>
              </a:rPr>
              <a:t>•</a:t>
            </a:r>
          </a:p>
        </p:txBody>
      </p:sp>
      <p:sp>
        <p:nvSpPr>
          <p:cNvPr id="16" name="TextBox 15"/>
          <p:cNvSpPr txBox="1"/>
          <p:nvPr/>
        </p:nvSpPr>
        <p:spPr>
          <a:xfrm>
            <a:off x="9692640" y="3337560"/>
            <a:ext cx="2011680" cy="640080"/>
          </a:xfrm>
          <a:prstGeom prst="rect">
            <a:avLst/>
          </a:prstGeom>
          <a:noFill/>
        </p:spPr>
        <p:txBody>
          <a:bodyPr wrap="square" lIns="0" rIns="0" tIns="0" bIns="0" anchor="t">
            <a:spAutoFit/>
          </a:bodyPr>
          <a:lstStyle/>
          <a:p>
            <a:pPr algn="l"/>
            <a:r>
              <a:rPr sz="1050" b="0">
                <a:solidFill>
                  <a:srgbClr val="222B3A"/>
                </a:solidFill>
                <a:latin typeface="Calibri"/>
              </a:rPr>
              <a:t>Solo 2 categorías de sexo</a:t>
            </a:r>
          </a:p>
        </p:txBody>
      </p:sp>
      <p:sp>
        <p:nvSpPr>
          <p:cNvPr id="17" name="TextBox 16"/>
          <p:cNvSpPr txBox="1"/>
          <p:nvPr/>
        </p:nvSpPr>
        <p:spPr>
          <a:xfrm>
            <a:off x="9509760" y="4114800"/>
            <a:ext cx="182880" cy="320040"/>
          </a:xfrm>
          <a:prstGeom prst="rect">
            <a:avLst/>
          </a:prstGeom>
          <a:noFill/>
        </p:spPr>
        <p:txBody>
          <a:bodyPr wrap="square" lIns="0" rIns="0" tIns="0" bIns="0" anchor="t">
            <a:spAutoFit/>
          </a:bodyPr>
          <a:lstStyle/>
          <a:p>
            <a:pPr algn="l"/>
            <a:r>
              <a:rPr sz="1300" b="1">
                <a:solidFill>
                  <a:srgbClr val="E67E22"/>
                </a:solidFill>
                <a:latin typeface="Calibri"/>
              </a:rPr>
              <a:t>•</a:t>
            </a:r>
          </a:p>
        </p:txBody>
      </p:sp>
      <p:sp>
        <p:nvSpPr>
          <p:cNvPr id="18" name="TextBox 17"/>
          <p:cNvSpPr txBox="1"/>
          <p:nvPr/>
        </p:nvSpPr>
        <p:spPr>
          <a:xfrm>
            <a:off x="9692640" y="4114800"/>
            <a:ext cx="2011680" cy="640080"/>
          </a:xfrm>
          <a:prstGeom prst="rect">
            <a:avLst/>
          </a:prstGeom>
          <a:noFill/>
        </p:spPr>
        <p:txBody>
          <a:bodyPr wrap="square" lIns="0" rIns="0" tIns="0" bIns="0" anchor="t">
            <a:spAutoFit/>
          </a:bodyPr>
          <a:lstStyle/>
          <a:p>
            <a:pPr algn="l"/>
            <a:r>
              <a:rPr sz="1050" b="0">
                <a:solidFill>
                  <a:srgbClr val="222B3A"/>
                </a:solidFill>
                <a:latin typeface="Calibri"/>
              </a:rPr>
              <a:t>Southeast lidera fumadores</a:t>
            </a:r>
          </a:p>
        </p:txBody>
      </p:sp>
      <p:sp>
        <p:nvSpPr>
          <p:cNvPr id="19" name="TextBox 18"/>
          <p:cNvSpPr txBox="1"/>
          <p:nvPr/>
        </p:nvSpPr>
        <p:spPr>
          <a:xfrm>
            <a:off x="9509760" y="4892040"/>
            <a:ext cx="182880" cy="320040"/>
          </a:xfrm>
          <a:prstGeom prst="rect">
            <a:avLst/>
          </a:prstGeom>
          <a:noFill/>
        </p:spPr>
        <p:txBody>
          <a:bodyPr wrap="square" lIns="0" rIns="0" tIns="0" bIns="0" anchor="t">
            <a:spAutoFit/>
          </a:bodyPr>
          <a:lstStyle/>
          <a:p>
            <a:pPr algn="l"/>
            <a:r>
              <a:rPr sz="1300" b="1">
                <a:solidFill>
                  <a:srgbClr val="E67E22"/>
                </a:solidFill>
                <a:latin typeface="Calibri"/>
              </a:rPr>
              <a:t>•</a:t>
            </a:r>
          </a:p>
        </p:txBody>
      </p:sp>
      <p:sp>
        <p:nvSpPr>
          <p:cNvPr id="20" name="TextBox 19"/>
          <p:cNvSpPr txBox="1"/>
          <p:nvPr/>
        </p:nvSpPr>
        <p:spPr>
          <a:xfrm>
            <a:off x="9692640" y="4892040"/>
            <a:ext cx="2011680" cy="640080"/>
          </a:xfrm>
          <a:prstGeom prst="rect">
            <a:avLst/>
          </a:prstGeom>
          <a:noFill/>
        </p:spPr>
        <p:txBody>
          <a:bodyPr wrap="square" lIns="0" rIns="0" tIns="0" bIns="0" anchor="t">
            <a:spAutoFit/>
          </a:bodyPr>
          <a:lstStyle/>
          <a:p>
            <a:pPr algn="l"/>
            <a:r>
              <a:rPr sz="1050" b="0">
                <a:solidFill>
                  <a:srgbClr val="222B3A"/>
                </a:solidFill>
                <a:latin typeface="Calibri"/>
              </a:rPr>
              <a:t>Regiones EE.UU. exclusivas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0058400" cy="548640"/>
          </a:xfrm>
          <a:prstGeom prst="rect">
            <a:avLst/>
          </a:prstGeom>
          <a:noFill/>
        </p:spPr>
        <p:txBody>
          <a:bodyPr wrap="square" lIns="0" rIns="0" tIns="0" bIns="0" anchor="ctr">
            <a:spAutoFit/>
          </a:bodyPr>
          <a:lstStyle/>
          <a:p>
            <a:pPr algn="l"/>
            <a:r>
              <a:rPr sz="2400" b="1">
                <a:solidFill>
                  <a:srgbClr val="FFFFFF"/>
                </a:solidFill>
                <a:latin typeface="Calibri"/>
              </a:rPr>
              <a:t>Evidencia: modelo de regresión OLS</a:t>
            </a:r>
          </a:p>
        </p:txBody>
      </p:sp>
      <p:sp>
        <p:nvSpPr>
          <p:cNvPr id="5" name="TextBox 4"/>
          <p:cNvSpPr txBox="1"/>
          <p:nvPr/>
        </p:nvSpPr>
        <p:spPr>
          <a:xfrm>
            <a:off x="457200" y="960120"/>
            <a:ext cx="10058400" cy="365760"/>
          </a:xfrm>
          <a:prstGeom prst="rect">
            <a:avLst/>
          </a:prstGeom>
          <a:noFill/>
        </p:spPr>
        <p:txBody>
          <a:bodyPr wrap="square" lIns="0" rIns="0" tIns="0" bIns="0" anchor="ctr">
            <a:spAutoFit/>
          </a:bodyPr>
          <a:lstStyle/>
          <a:p>
            <a:pPr algn="l"/>
            <a:r>
              <a:rPr sz="1300" b="0">
                <a:solidFill>
                  <a:srgbClr val="6B7484"/>
                </a:solidFill>
                <a:latin typeface="Calibri"/>
              </a:rPr>
              <a:t>Notebook §7 — statsmodels valida el peso de cada variable</a:t>
            </a:r>
          </a:p>
        </p:txBody>
      </p:sp>
      <p:sp>
        <p:nvSpPr>
          <p:cNvPr id="6" name="TextBox 5"/>
          <p:cNvSpPr txBox="1"/>
          <p:nvPr/>
        </p:nvSpPr>
        <p:spPr>
          <a:xfrm>
            <a:off x="10972800" y="137160"/>
            <a:ext cx="1005840" cy="548640"/>
          </a:xfrm>
          <a:prstGeom prst="rect">
            <a:avLst/>
          </a:prstGeom>
          <a:noFill/>
        </p:spPr>
        <p:txBody>
          <a:bodyPr wrap="square" lIns="0" rIns="0" tIns="0" bIns="0" anchor="ctr">
            <a:spAutoFit/>
          </a:bodyPr>
          <a:lstStyle/>
          <a:p>
            <a:pPr algn="r"/>
            <a:r>
              <a:rPr sz="1300" b="1">
                <a:solidFill>
                  <a:srgbClr val="FFFFFF"/>
                </a:solidFill>
                <a:latin typeface="Calibri"/>
              </a:rPr>
              <a:t>6/10</a:t>
            </a:r>
          </a:p>
        </p:txBody>
      </p:sp>
      <p:sp>
        <p:nvSpPr>
          <p:cNvPr id="7" name="TextBox 6"/>
          <p:cNvSpPr txBox="1"/>
          <p:nvPr/>
        </p:nvSpPr>
        <p:spPr>
          <a:xfrm>
            <a:off x="457200" y="6446520"/>
            <a:ext cx="10972800" cy="320040"/>
          </a:xfrm>
          <a:prstGeom prst="rect">
            <a:avLst/>
          </a:prstGeom>
          <a:noFill/>
        </p:spPr>
        <p:txBody>
          <a:bodyPr wrap="square" lIns="0" rIns="0" tIns="0" bIns="0" anchor="t">
            <a:spAutoFit/>
          </a:bodyPr>
          <a:lstStyle/>
          <a:p>
            <a:pPr algn="l"/>
            <a:r>
              <a:rPr sz="900" b="0">
                <a:solidFill>
                  <a:srgbClr val="6B7484"/>
                </a:solidFill>
                <a:latin typeface="Calibri"/>
              </a:rPr>
              <a:t>SCY1102 · Gestión de Proyectos de Datos · Caso 2 Salud · Medina · Arriagada · Tapia · Ponce · Duoc UC 2026</a:t>
            </a:r>
          </a:p>
        </p:txBody>
      </p:sp>
      <p:pic>
        <p:nvPicPr>
          <p:cNvPr id="8" name="Picture 7" descr="nb_cap_5_ols.png"/>
          <p:cNvPicPr>
            <a:picLocks noChangeAspect="1"/>
          </p:cNvPicPr>
          <p:nvPr/>
        </p:nvPicPr>
        <p:blipFill>
          <a:blip r:embed="rId2"/>
          <a:stretch>
            <a:fillRect/>
          </a:stretch>
        </p:blipFill>
        <p:spPr>
          <a:xfrm>
            <a:off x="1235779" y="1417320"/>
            <a:ext cx="6672443" cy="4937760"/>
          </a:xfrm>
          <a:prstGeom prst="rect">
            <a:avLst/>
          </a:prstGeom>
        </p:spPr>
      </p:pic>
      <p:sp>
        <p:nvSpPr>
          <p:cNvPr id="9" name="Rectangle 8"/>
          <p:cNvSpPr/>
          <p:nvPr/>
        </p:nvSpPr>
        <p:spPr>
          <a:xfrm>
            <a:off x="9052560" y="1188720"/>
            <a:ext cx="2743200" cy="493776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89720" y="1371600"/>
            <a:ext cx="2651760" cy="457200"/>
          </a:xfrm>
          <a:prstGeom prst="rect">
            <a:avLst/>
          </a:prstGeom>
          <a:noFill/>
        </p:spPr>
        <p:txBody>
          <a:bodyPr wrap="square" lIns="0" rIns="0" tIns="0" bIns="0" anchor="t">
            <a:spAutoFit/>
          </a:bodyPr>
          <a:lstStyle/>
          <a:p>
            <a:pPr algn="l"/>
            <a:r>
              <a:rPr sz="1300" b="1">
                <a:solidFill>
                  <a:srgbClr val="1F4E79"/>
                </a:solidFill>
                <a:latin typeface="Calibri"/>
              </a:rPr>
              <a:t>Lectura clave</a:t>
            </a:r>
          </a:p>
        </p:txBody>
      </p:sp>
      <p:sp>
        <p:nvSpPr>
          <p:cNvPr id="11" name="TextBox 10"/>
          <p:cNvSpPr txBox="1"/>
          <p:nvPr/>
        </p:nvSpPr>
        <p:spPr>
          <a:xfrm>
            <a:off x="9189720" y="1828800"/>
            <a:ext cx="2651760" cy="320040"/>
          </a:xfrm>
          <a:prstGeom prst="rect">
            <a:avLst/>
          </a:prstGeom>
          <a:noFill/>
        </p:spPr>
        <p:txBody>
          <a:bodyPr wrap="square" lIns="0" rIns="0" tIns="0" bIns="0" anchor="t">
            <a:spAutoFit/>
          </a:bodyPr>
          <a:lstStyle/>
          <a:p>
            <a:pPr algn="l"/>
            <a:r>
              <a:rPr sz="1050" b="0">
                <a:solidFill>
                  <a:srgbClr val="6B7484"/>
                </a:solidFill>
                <a:latin typeface="Calibri"/>
              </a:rPr>
              <a:t>R² adj</a:t>
            </a:r>
          </a:p>
        </p:txBody>
      </p:sp>
      <p:sp>
        <p:nvSpPr>
          <p:cNvPr id="12" name="TextBox 11"/>
          <p:cNvSpPr txBox="1"/>
          <p:nvPr/>
        </p:nvSpPr>
        <p:spPr>
          <a:xfrm>
            <a:off x="9189720" y="2103120"/>
            <a:ext cx="2651760" cy="365760"/>
          </a:xfrm>
          <a:prstGeom prst="rect">
            <a:avLst/>
          </a:prstGeom>
          <a:noFill/>
        </p:spPr>
        <p:txBody>
          <a:bodyPr wrap="square" lIns="0" rIns="0" tIns="0" bIns="0" anchor="t">
            <a:spAutoFit/>
          </a:bodyPr>
          <a:lstStyle/>
          <a:p>
            <a:pPr algn="l"/>
            <a:r>
              <a:rPr sz="1300" b="1">
                <a:solidFill>
                  <a:srgbClr val="1F4E79"/>
                </a:solidFill>
                <a:latin typeface="Calibri"/>
              </a:rPr>
              <a:t>0,749</a:t>
            </a:r>
          </a:p>
        </p:txBody>
      </p:sp>
      <p:sp>
        <p:nvSpPr>
          <p:cNvPr id="13" name="TextBox 12"/>
          <p:cNvSpPr txBox="1"/>
          <p:nvPr/>
        </p:nvSpPr>
        <p:spPr>
          <a:xfrm>
            <a:off x="9189720" y="2606040"/>
            <a:ext cx="2651760" cy="320040"/>
          </a:xfrm>
          <a:prstGeom prst="rect">
            <a:avLst/>
          </a:prstGeom>
          <a:noFill/>
        </p:spPr>
        <p:txBody>
          <a:bodyPr wrap="square" lIns="0" rIns="0" tIns="0" bIns="0" anchor="t">
            <a:spAutoFit/>
          </a:bodyPr>
          <a:lstStyle/>
          <a:p>
            <a:pPr algn="l"/>
            <a:r>
              <a:rPr sz="1050" b="0">
                <a:solidFill>
                  <a:srgbClr val="6B7484"/>
                </a:solidFill>
                <a:latin typeface="Calibri"/>
              </a:rPr>
              <a:t>Efecto FUMADOR</a:t>
            </a:r>
          </a:p>
        </p:txBody>
      </p:sp>
      <p:sp>
        <p:nvSpPr>
          <p:cNvPr id="14" name="TextBox 13"/>
          <p:cNvSpPr txBox="1"/>
          <p:nvPr/>
        </p:nvSpPr>
        <p:spPr>
          <a:xfrm>
            <a:off x="9189720" y="2880360"/>
            <a:ext cx="2651760" cy="365760"/>
          </a:xfrm>
          <a:prstGeom prst="rect">
            <a:avLst/>
          </a:prstGeom>
          <a:noFill/>
        </p:spPr>
        <p:txBody>
          <a:bodyPr wrap="square" lIns="0" rIns="0" tIns="0" bIns="0" anchor="t">
            <a:spAutoFit/>
          </a:bodyPr>
          <a:lstStyle/>
          <a:p>
            <a:pPr algn="l"/>
            <a:r>
              <a:rPr sz="1300" b="1">
                <a:solidFill>
                  <a:srgbClr val="1F4E79"/>
                </a:solidFill>
                <a:latin typeface="Calibri"/>
              </a:rPr>
              <a:t>+US$ 23.848 anuales</a:t>
            </a:r>
          </a:p>
        </p:txBody>
      </p:sp>
      <p:sp>
        <p:nvSpPr>
          <p:cNvPr id="15" name="TextBox 14"/>
          <p:cNvSpPr txBox="1"/>
          <p:nvPr/>
        </p:nvSpPr>
        <p:spPr>
          <a:xfrm>
            <a:off x="9189720" y="3383280"/>
            <a:ext cx="2651760" cy="320040"/>
          </a:xfrm>
          <a:prstGeom prst="rect">
            <a:avLst/>
          </a:prstGeom>
          <a:noFill/>
        </p:spPr>
        <p:txBody>
          <a:bodyPr wrap="square" lIns="0" rIns="0" tIns="0" bIns="0" anchor="t">
            <a:spAutoFit/>
          </a:bodyPr>
          <a:lstStyle/>
          <a:p>
            <a:pPr algn="l"/>
            <a:r>
              <a:rPr sz="1050" b="0">
                <a:solidFill>
                  <a:srgbClr val="6B7484"/>
                </a:solidFill>
                <a:latin typeface="Calibri"/>
              </a:rPr>
              <a:t>p-valor smoker</a:t>
            </a:r>
          </a:p>
        </p:txBody>
      </p:sp>
      <p:sp>
        <p:nvSpPr>
          <p:cNvPr id="16" name="TextBox 15"/>
          <p:cNvSpPr txBox="1"/>
          <p:nvPr/>
        </p:nvSpPr>
        <p:spPr>
          <a:xfrm>
            <a:off x="9189720" y="3657600"/>
            <a:ext cx="2651760" cy="365760"/>
          </a:xfrm>
          <a:prstGeom prst="rect">
            <a:avLst/>
          </a:prstGeom>
          <a:noFill/>
        </p:spPr>
        <p:txBody>
          <a:bodyPr wrap="square" lIns="0" rIns="0" tIns="0" bIns="0" anchor="t">
            <a:spAutoFit/>
          </a:bodyPr>
          <a:lstStyle/>
          <a:p>
            <a:pPr algn="l"/>
            <a:r>
              <a:rPr sz="1300" b="1">
                <a:solidFill>
                  <a:srgbClr val="1F4E79"/>
                </a:solidFill>
                <a:latin typeface="Calibri"/>
              </a:rPr>
              <a:t>&lt; 0,001 ***</a:t>
            </a:r>
          </a:p>
        </p:txBody>
      </p:sp>
      <p:sp>
        <p:nvSpPr>
          <p:cNvPr id="17" name="TextBox 16"/>
          <p:cNvSpPr txBox="1"/>
          <p:nvPr/>
        </p:nvSpPr>
        <p:spPr>
          <a:xfrm>
            <a:off x="9189720" y="4160520"/>
            <a:ext cx="2651760" cy="320040"/>
          </a:xfrm>
          <a:prstGeom prst="rect">
            <a:avLst/>
          </a:prstGeom>
          <a:noFill/>
        </p:spPr>
        <p:txBody>
          <a:bodyPr wrap="square" lIns="0" rIns="0" tIns="0" bIns="0" anchor="t">
            <a:spAutoFit/>
          </a:bodyPr>
          <a:lstStyle/>
          <a:p>
            <a:pPr algn="l"/>
            <a:r>
              <a:rPr sz="1050" b="0">
                <a:solidFill>
                  <a:srgbClr val="6B7484"/>
                </a:solidFill>
                <a:latin typeface="Calibri"/>
              </a:rPr>
              <a:t>Efecto edad</a:t>
            </a:r>
          </a:p>
        </p:txBody>
      </p:sp>
      <p:sp>
        <p:nvSpPr>
          <p:cNvPr id="18" name="TextBox 17"/>
          <p:cNvSpPr txBox="1"/>
          <p:nvPr/>
        </p:nvSpPr>
        <p:spPr>
          <a:xfrm>
            <a:off x="9189720" y="4434840"/>
            <a:ext cx="2651760" cy="365760"/>
          </a:xfrm>
          <a:prstGeom prst="rect">
            <a:avLst/>
          </a:prstGeom>
          <a:noFill/>
        </p:spPr>
        <p:txBody>
          <a:bodyPr wrap="square" lIns="0" rIns="0" tIns="0" bIns="0" anchor="t">
            <a:spAutoFit/>
          </a:bodyPr>
          <a:lstStyle/>
          <a:p>
            <a:pPr algn="l"/>
            <a:r>
              <a:rPr sz="1300" b="1">
                <a:solidFill>
                  <a:srgbClr val="1F4E79"/>
                </a:solidFill>
                <a:latin typeface="Calibri"/>
              </a:rPr>
              <a:t>+US$ 257 por año</a:t>
            </a:r>
          </a:p>
        </p:txBody>
      </p:sp>
      <p:sp>
        <p:nvSpPr>
          <p:cNvPr id="19" name="TextBox 18"/>
          <p:cNvSpPr txBox="1"/>
          <p:nvPr/>
        </p:nvSpPr>
        <p:spPr>
          <a:xfrm>
            <a:off x="9189720" y="4937760"/>
            <a:ext cx="2651760" cy="320040"/>
          </a:xfrm>
          <a:prstGeom prst="rect">
            <a:avLst/>
          </a:prstGeom>
          <a:noFill/>
        </p:spPr>
        <p:txBody>
          <a:bodyPr wrap="square" lIns="0" rIns="0" tIns="0" bIns="0" anchor="t">
            <a:spAutoFit/>
          </a:bodyPr>
          <a:lstStyle/>
          <a:p>
            <a:pPr algn="l"/>
            <a:r>
              <a:rPr sz="1050" b="0">
                <a:solidFill>
                  <a:srgbClr val="6B7484"/>
                </a:solidFill>
                <a:latin typeface="Calibri"/>
              </a:rPr>
              <a:t>Efecto IMC</a:t>
            </a:r>
          </a:p>
        </p:txBody>
      </p:sp>
      <p:sp>
        <p:nvSpPr>
          <p:cNvPr id="20" name="TextBox 19"/>
          <p:cNvSpPr txBox="1"/>
          <p:nvPr/>
        </p:nvSpPr>
        <p:spPr>
          <a:xfrm>
            <a:off x="9189720" y="5212080"/>
            <a:ext cx="2651760" cy="365760"/>
          </a:xfrm>
          <a:prstGeom prst="rect">
            <a:avLst/>
          </a:prstGeom>
          <a:noFill/>
        </p:spPr>
        <p:txBody>
          <a:bodyPr wrap="square" lIns="0" rIns="0" tIns="0" bIns="0" anchor="t">
            <a:spAutoFit/>
          </a:bodyPr>
          <a:lstStyle/>
          <a:p>
            <a:pPr algn="l"/>
            <a:r>
              <a:rPr sz="1300" b="1">
                <a:solidFill>
                  <a:srgbClr val="1F4E79"/>
                </a:solidFill>
                <a:latin typeface="Calibri"/>
              </a:rPr>
              <a:t>+US$ 339 por punto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0058400" cy="548640"/>
          </a:xfrm>
          <a:prstGeom prst="rect">
            <a:avLst/>
          </a:prstGeom>
          <a:noFill/>
        </p:spPr>
        <p:txBody>
          <a:bodyPr wrap="square" lIns="0" rIns="0" tIns="0" bIns="0" anchor="ctr">
            <a:spAutoFit/>
          </a:bodyPr>
          <a:lstStyle/>
          <a:p>
            <a:pPr algn="l"/>
            <a:r>
              <a:rPr sz="2400" b="1">
                <a:solidFill>
                  <a:srgbClr val="FFFFFF"/>
                </a:solidFill>
                <a:latin typeface="Calibri"/>
              </a:rPr>
              <a:t>Comparación financiera de alternativas</a:t>
            </a:r>
          </a:p>
        </p:txBody>
      </p:sp>
      <p:sp>
        <p:nvSpPr>
          <p:cNvPr id="5" name="TextBox 4"/>
          <p:cNvSpPr txBox="1"/>
          <p:nvPr/>
        </p:nvSpPr>
        <p:spPr>
          <a:xfrm>
            <a:off x="457200" y="960120"/>
            <a:ext cx="10058400" cy="365760"/>
          </a:xfrm>
          <a:prstGeom prst="rect">
            <a:avLst/>
          </a:prstGeom>
          <a:noFill/>
        </p:spPr>
        <p:txBody>
          <a:bodyPr wrap="square" lIns="0" rIns="0" tIns="0" bIns="0" anchor="ctr">
            <a:spAutoFit/>
          </a:bodyPr>
          <a:lstStyle/>
          <a:p>
            <a:pPr algn="l"/>
            <a:r>
              <a:rPr sz="1300" b="0">
                <a:solidFill>
                  <a:srgbClr val="6B7484"/>
                </a:solidFill>
                <a:latin typeface="Calibri"/>
              </a:rPr>
              <a:t>Costos anuales estimados en US$</a:t>
            </a:r>
          </a:p>
        </p:txBody>
      </p:sp>
      <p:sp>
        <p:nvSpPr>
          <p:cNvPr id="6" name="TextBox 5"/>
          <p:cNvSpPr txBox="1"/>
          <p:nvPr/>
        </p:nvSpPr>
        <p:spPr>
          <a:xfrm>
            <a:off x="10972800" y="137160"/>
            <a:ext cx="1005840" cy="548640"/>
          </a:xfrm>
          <a:prstGeom prst="rect">
            <a:avLst/>
          </a:prstGeom>
          <a:noFill/>
        </p:spPr>
        <p:txBody>
          <a:bodyPr wrap="square" lIns="0" rIns="0" tIns="0" bIns="0" anchor="ctr">
            <a:spAutoFit/>
          </a:bodyPr>
          <a:lstStyle/>
          <a:p>
            <a:pPr algn="r"/>
            <a:r>
              <a:rPr sz="1300" b="1">
                <a:solidFill>
                  <a:srgbClr val="FFFFFF"/>
                </a:solidFill>
                <a:latin typeface="Calibri"/>
              </a:rPr>
              <a:t>7/10</a:t>
            </a:r>
          </a:p>
        </p:txBody>
      </p:sp>
      <p:sp>
        <p:nvSpPr>
          <p:cNvPr id="7" name="TextBox 6"/>
          <p:cNvSpPr txBox="1"/>
          <p:nvPr/>
        </p:nvSpPr>
        <p:spPr>
          <a:xfrm>
            <a:off x="457200" y="6446520"/>
            <a:ext cx="10972800" cy="320040"/>
          </a:xfrm>
          <a:prstGeom prst="rect">
            <a:avLst/>
          </a:prstGeom>
          <a:noFill/>
        </p:spPr>
        <p:txBody>
          <a:bodyPr wrap="square" lIns="0" rIns="0" tIns="0" bIns="0" anchor="t">
            <a:spAutoFit/>
          </a:bodyPr>
          <a:lstStyle/>
          <a:p>
            <a:pPr algn="l"/>
            <a:r>
              <a:rPr sz="900" b="0">
                <a:solidFill>
                  <a:srgbClr val="6B7484"/>
                </a:solidFill>
                <a:latin typeface="Calibri"/>
              </a:rPr>
              <a:t>SCY1102 · Gestión de Proyectos de Datos · Caso 2 Salud · Medina · Arriagada · Tapia · Ponce · Duoc UC 2026</a:t>
            </a:r>
          </a:p>
        </p:txBody>
      </p:sp>
      <p:pic>
        <p:nvPicPr>
          <p:cNvPr id="8" name="Picture 7" descr="g6_alternativas.png"/>
          <p:cNvPicPr>
            <a:picLocks noChangeAspect="1"/>
          </p:cNvPicPr>
          <p:nvPr/>
        </p:nvPicPr>
        <p:blipFill>
          <a:blip r:embed="rId2"/>
          <a:stretch>
            <a:fillRect/>
          </a:stretch>
        </p:blipFill>
        <p:spPr>
          <a:xfrm>
            <a:off x="365760" y="1417320"/>
            <a:ext cx="7772400" cy="4212298"/>
          </a:xfrm>
          <a:prstGeom prst="rect">
            <a:avLst/>
          </a:prstGeom>
        </p:spPr>
      </p:pic>
      <p:sp>
        <p:nvSpPr>
          <p:cNvPr id="9" name="Rectangle 8"/>
          <p:cNvSpPr/>
          <p:nvPr/>
        </p:nvSpPr>
        <p:spPr>
          <a:xfrm>
            <a:off x="8686800" y="1371600"/>
            <a:ext cx="3017520" cy="475488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0" y="1554480"/>
            <a:ext cx="2743200" cy="365760"/>
          </a:xfrm>
          <a:prstGeom prst="rect">
            <a:avLst/>
          </a:prstGeom>
          <a:noFill/>
        </p:spPr>
        <p:txBody>
          <a:bodyPr wrap="square" lIns="0" rIns="0" tIns="0" bIns="0" anchor="t">
            <a:spAutoFit/>
          </a:bodyPr>
          <a:lstStyle/>
          <a:p>
            <a:pPr algn="l"/>
            <a:r>
              <a:rPr sz="1500" b="1">
                <a:solidFill>
                  <a:srgbClr val="1F4E79"/>
                </a:solidFill>
                <a:latin typeface="Calibri"/>
              </a:rPr>
              <a:t>Resumen</a:t>
            </a:r>
          </a:p>
        </p:txBody>
      </p:sp>
      <p:sp>
        <p:nvSpPr>
          <p:cNvPr id="11" name="TextBox 10"/>
          <p:cNvSpPr txBox="1"/>
          <p:nvPr/>
        </p:nvSpPr>
        <p:spPr>
          <a:xfrm>
            <a:off x="8869680" y="2011680"/>
            <a:ext cx="2743200" cy="365760"/>
          </a:xfrm>
          <a:prstGeom prst="rect">
            <a:avLst/>
          </a:prstGeom>
          <a:noFill/>
        </p:spPr>
        <p:txBody>
          <a:bodyPr wrap="square" lIns="0" rIns="0" tIns="0" bIns="0" anchor="t">
            <a:spAutoFit/>
          </a:bodyPr>
          <a:lstStyle/>
          <a:p>
            <a:pPr algn="l"/>
            <a:r>
              <a:rPr sz="1300" b="1">
                <a:solidFill>
                  <a:srgbClr val="1F4E79"/>
                </a:solidFill>
                <a:latin typeface="Calibri"/>
              </a:rPr>
              <a:t>Alternativa A</a:t>
            </a:r>
          </a:p>
        </p:txBody>
      </p:sp>
      <p:sp>
        <p:nvSpPr>
          <p:cNvPr id="12" name="TextBox 11"/>
          <p:cNvSpPr txBox="1"/>
          <p:nvPr/>
        </p:nvSpPr>
        <p:spPr>
          <a:xfrm>
            <a:off x="8869680" y="2331720"/>
            <a:ext cx="2743200" cy="365760"/>
          </a:xfrm>
          <a:prstGeom prst="rect">
            <a:avLst/>
          </a:prstGeom>
          <a:noFill/>
        </p:spPr>
        <p:txBody>
          <a:bodyPr wrap="square" lIns="0" rIns="0" tIns="0" bIns="0" anchor="t">
            <a:spAutoFit/>
          </a:bodyPr>
          <a:lstStyle/>
          <a:p>
            <a:pPr algn="l"/>
            <a:r>
              <a:rPr sz="1100" b="0">
                <a:solidFill>
                  <a:srgbClr val="6B7484"/>
                </a:solidFill>
                <a:latin typeface="Calibri"/>
              </a:rPr>
              <a:t>AWS + Python OSS</a:t>
            </a:r>
          </a:p>
        </p:txBody>
      </p:sp>
      <p:sp>
        <p:nvSpPr>
          <p:cNvPr id="13" name="TextBox 12"/>
          <p:cNvSpPr txBox="1"/>
          <p:nvPr/>
        </p:nvSpPr>
        <p:spPr>
          <a:xfrm>
            <a:off x="8869680" y="2606040"/>
            <a:ext cx="2743200" cy="457200"/>
          </a:xfrm>
          <a:prstGeom prst="rect">
            <a:avLst/>
          </a:prstGeom>
          <a:noFill/>
        </p:spPr>
        <p:txBody>
          <a:bodyPr wrap="square" lIns="0" rIns="0" tIns="0" bIns="0" anchor="t">
            <a:spAutoFit/>
          </a:bodyPr>
          <a:lstStyle/>
          <a:p>
            <a:pPr algn="l"/>
            <a:r>
              <a:rPr sz="2200" b="1">
                <a:solidFill>
                  <a:srgbClr val="2E8B57"/>
                </a:solidFill>
                <a:latin typeface="Calibri"/>
              </a:rPr>
              <a:t>US$ 54.000</a:t>
            </a:r>
          </a:p>
        </p:txBody>
      </p:sp>
      <p:sp>
        <p:nvSpPr>
          <p:cNvPr id="14" name="TextBox 13"/>
          <p:cNvSpPr txBox="1"/>
          <p:nvPr/>
        </p:nvSpPr>
        <p:spPr>
          <a:xfrm>
            <a:off x="8869680" y="3154680"/>
            <a:ext cx="2743200" cy="365760"/>
          </a:xfrm>
          <a:prstGeom prst="rect">
            <a:avLst/>
          </a:prstGeom>
          <a:noFill/>
        </p:spPr>
        <p:txBody>
          <a:bodyPr wrap="square" lIns="0" rIns="0" tIns="0" bIns="0" anchor="t">
            <a:spAutoFit/>
          </a:bodyPr>
          <a:lstStyle/>
          <a:p>
            <a:pPr algn="l"/>
            <a:r>
              <a:rPr sz="1200" b="1">
                <a:solidFill>
                  <a:srgbClr val="2E8B57"/>
                </a:solidFill>
                <a:latin typeface="Calibri"/>
              </a:rPr>
              <a:t>ROI ≈ 11,1×</a:t>
            </a:r>
          </a:p>
        </p:txBody>
      </p:sp>
      <p:sp>
        <p:nvSpPr>
          <p:cNvPr id="15" name="TextBox 14"/>
          <p:cNvSpPr txBox="1"/>
          <p:nvPr/>
        </p:nvSpPr>
        <p:spPr>
          <a:xfrm>
            <a:off x="8869680" y="3794760"/>
            <a:ext cx="2743200" cy="365760"/>
          </a:xfrm>
          <a:prstGeom prst="rect">
            <a:avLst/>
          </a:prstGeom>
          <a:noFill/>
        </p:spPr>
        <p:txBody>
          <a:bodyPr wrap="square" lIns="0" rIns="0" tIns="0" bIns="0" anchor="t">
            <a:spAutoFit/>
          </a:bodyPr>
          <a:lstStyle/>
          <a:p>
            <a:pPr algn="l"/>
            <a:r>
              <a:rPr sz="1300" b="1">
                <a:solidFill>
                  <a:srgbClr val="1F4E79"/>
                </a:solidFill>
                <a:latin typeface="Calibri"/>
              </a:rPr>
              <a:t>Alternativa B</a:t>
            </a:r>
          </a:p>
        </p:txBody>
      </p:sp>
      <p:sp>
        <p:nvSpPr>
          <p:cNvPr id="16" name="TextBox 15"/>
          <p:cNvSpPr txBox="1"/>
          <p:nvPr/>
        </p:nvSpPr>
        <p:spPr>
          <a:xfrm>
            <a:off x="8869680" y="4114800"/>
            <a:ext cx="2743200" cy="365760"/>
          </a:xfrm>
          <a:prstGeom prst="rect">
            <a:avLst/>
          </a:prstGeom>
          <a:noFill/>
        </p:spPr>
        <p:txBody>
          <a:bodyPr wrap="square" lIns="0" rIns="0" tIns="0" bIns="0" anchor="t">
            <a:spAutoFit/>
          </a:bodyPr>
          <a:lstStyle/>
          <a:p>
            <a:pPr algn="l"/>
            <a:r>
              <a:rPr sz="1100" b="0">
                <a:solidFill>
                  <a:srgbClr val="6B7484"/>
                </a:solidFill>
                <a:latin typeface="Calibri"/>
              </a:rPr>
              <a:t>Azure ML + Power BI</a:t>
            </a:r>
          </a:p>
        </p:txBody>
      </p:sp>
      <p:sp>
        <p:nvSpPr>
          <p:cNvPr id="17" name="TextBox 16"/>
          <p:cNvSpPr txBox="1"/>
          <p:nvPr/>
        </p:nvSpPr>
        <p:spPr>
          <a:xfrm>
            <a:off x="8869680" y="4389120"/>
            <a:ext cx="2743200" cy="457200"/>
          </a:xfrm>
          <a:prstGeom prst="rect">
            <a:avLst/>
          </a:prstGeom>
          <a:noFill/>
        </p:spPr>
        <p:txBody>
          <a:bodyPr wrap="square" lIns="0" rIns="0" tIns="0" bIns="0" anchor="t">
            <a:spAutoFit/>
          </a:bodyPr>
          <a:lstStyle/>
          <a:p>
            <a:pPr algn="l"/>
            <a:r>
              <a:rPr sz="2200" b="1">
                <a:solidFill>
                  <a:srgbClr val="E67E22"/>
                </a:solidFill>
                <a:latin typeface="Calibri"/>
              </a:rPr>
              <a:t>US$ 80.400</a:t>
            </a:r>
          </a:p>
        </p:txBody>
      </p:sp>
      <p:sp>
        <p:nvSpPr>
          <p:cNvPr id="18" name="TextBox 17"/>
          <p:cNvSpPr txBox="1"/>
          <p:nvPr/>
        </p:nvSpPr>
        <p:spPr>
          <a:xfrm>
            <a:off x="8869680" y="4937760"/>
            <a:ext cx="2743200" cy="365760"/>
          </a:xfrm>
          <a:prstGeom prst="rect">
            <a:avLst/>
          </a:prstGeom>
          <a:noFill/>
        </p:spPr>
        <p:txBody>
          <a:bodyPr wrap="square" lIns="0" rIns="0" tIns="0" bIns="0" anchor="t">
            <a:spAutoFit/>
          </a:bodyPr>
          <a:lstStyle/>
          <a:p>
            <a:pPr algn="l"/>
            <a:r>
              <a:rPr sz="1200" b="1">
                <a:solidFill>
                  <a:srgbClr val="E67E22"/>
                </a:solidFill>
                <a:latin typeface="Calibri"/>
              </a:rPr>
              <a:t>ROI ≈ 7,5×</a:t>
            </a:r>
          </a:p>
        </p:txBody>
      </p:sp>
      <p:sp>
        <p:nvSpPr>
          <p:cNvPr id="19" name="Rectangle 18"/>
          <p:cNvSpPr/>
          <p:nvPr/>
        </p:nvSpPr>
        <p:spPr>
          <a:xfrm>
            <a:off x="8869680" y="5532120"/>
            <a:ext cx="2651760" cy="50292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0" y="5532120"/>
            <a:ext cx="2651760" cy="502920"/>
          </a:xfrm>
          <a:prstGeom prst="rect">
            <a:avLst/>
          </a:prstGeom>
          <a:noFill/>
        </p:spPr>
        <p:txBody>
          <a:bodyPr wrap="square" lIns="0" rIns="0" tIns="0" bIns="0" anchor="ctr">
            <a:spAutoFit/>
          </a:bodyPr>
          <a:lstStyle/>
          <a:p>
            <a:pPr algn="ctr"/>
            <a:r>
              <a:rPr sz="1400" b="1">
                <a:solidFill>
                  <a:srgbClr val="FFFFFF"/>
                </a:solidFill>
                <a:latin typeface="Calibri"/>
              </a:rPr>
              <a:t>✔ Recomendada: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0058400" cy="548640"/>
          </a:xfrm>
          <a:prstGeom prst="rect">
            <a:avLst/>
          </a:prstGeom>
          <a:noFill/>
        </p:spPr>
        <p:txBody>
          <a:bodyPr wrap="square" lIns="0" rIns="0" tIns="0" bIns="0" anchor="ctr">
            <a:spAutoFit/>
          </a:bodyPr>
          <a:lstStyle/>
          <a:p>
            <a:pPr algn="l"/>
            <a:r>
              <a:rPr sz="2400" b="1">
                <a:solidFill>
                  <a:srgbClr val="FFFFFF"/>
                </a:solidFill>
                <a:latin typeface="Calibri"/>
              </a:rPr>
              <a:t>Evidencia: subgrupo crítico y ROI del programa</a:t>
            </a:r>
          </a:p>
        </p:txBody>
      </p:sp>
      <p:sp>
        <p:nvSpPr>
          <p:cNvPr id="5" name="TextBox 4"/>
          <p:cNvSpPr txBox="1"/>
          <p:nvPr/>
        </p:nvSpPr>
        <p:spPr>
          <a:xfrm>
            <a:off x="457200" y="960120"/>
            <a:ext cx="10058400" cy="365760"/>
          </a:xfrm>
          <a:prstGeom prst="rect">
            <a:avLst/>
          </a:prstGeom>
          <a:noFill/>
        </p:spPr>
        <p:txBody>
          <a:bodyPr wrap="square" lIns="0" rIns="0" tIns="0" bIns="0" anchor="ctr">
            <a:spAutoFit/>
          </a:bodyPr>
          <a:lstStyle/>
          <a:p>
            <a:pPr algn="l"/>
            <a:r>
              <a:rPr sz="1300" b="0">
                <a:solidFill>
                  <a:srgbClr val="6B7484"/>
                </a:solidFill>
                <a:latin typeface="Calibri"/>
              </a:rPr>
              <a:t>Notebook §8.1 — sensibilidad del ROI a tres escenarios</a:t>
            </a:r>
          </a:p>
        </p:txBody>
      </p:sp>
      <p:sp>
        <p:nvSpPr>
          <p:cNvPr id="6" name="TextBox 5"/>
          <p:cNvSpPr txBox="1"/>
          <p:nvPr/>
        </p:nvSpPr>
        <p:spPr>
          <a:xfrm>
            <a:off x="10972800" y="137160"/>
            <a:ext cx="1005840" cy="548640"/>
          </a:xfrm>
          <a:prstGeom prst="rect">
            <a:avLst/>
          </a:prstGeom>
          <a:noFill/>
        </p:spPr>
        <p:txBody>
          <a:bodyPr wrap="square" lIns="0" rIns="0" tIns="0" bIns="0" anchor="ctr">
            <a:spAutoFit/>
          </a:bodyPr>
          <a:lstStyle/>
          <a:p>
            <a:pPr algn="r"/>
            <a:r>
              <a:rPr sz="1300" b="1">
                <a:solidFill>
                  <a:srgbClr val="FFFFFF"/>
                </a:solidFill>
                <a:latin typeface="Calibri"/>
              </a:rPr>
              <a:t>8/10</a:t>
            </a:r>
          </a:p>
        </p:txBody>
      </p:sp>
      <p:sp>
        <p:nvSpPr>
          <p:cNvPr id="7" name="TextBox 6"/>
          <p:cNvSpPr txBox="1"/>
          <p:nvPr/>
        </p:nvSpPr>
        <p:spPr>
          <a:xfrm>
            <a:off x="457200" y="6446520"/>
            <a:ext cx="10972800" cy="320040"/>
          </a:xfrm>
          <a:prstGeom prst="rect">
            <a:avLst/>
          </a:prstGeom>
          <a:noFill/>
        </p:spPr>
        <p:txBody>
          <a:bodyPr wrap="square" lIns="0" rIns="0" tIns="0" bIns="0" anchor="t">
            <a:spAutoFit/>
          </a:bodyPr>
          <a:lstStyle/>
          <a:p>
            <a:pPr algn="l"/>
            <a:r>
              <a:rPr sz="900" b="0">
                <a:solidFill>
                  <a:srgbClr val="6B7484"/>
                </a:solidFill>
                <a:latin typeface="Calibri"/>
              </a:rPr>
              <a:t>SCY1102 · Gestión de Proyectos de Datos · Caso 2 Salud · Medina · Arriagada · Tapia · Ponce · Duoc UC 2026</a:t>
            </a:r>
          </a:p>
        </p:txBody>
      </p:sp>
      <p:pic>
        <p:nvPicPr>
          <p:cNvPr id="17" name="Picture 16" descr="nueva_evidencia_81.png"/>
          <p:cNvPicPr>
            <a:picLocks noChangeAspect="1"/>
          </p:cNvPicPr>
          <p:nvPr/>
        </p:nvPicPr>
        <p:blipFill>
          <a:blip r:embed="rId3"/>
          <a:stretch>
            <a:fillRect/>
          </a:stretch>
        </p:blipFill>
        <p:spPr>
          <a:xfrm>
            <a:off x="913334" y="1417320"/>
            <a:ext cx="7774533" cy="4937760"/>
          </a:xfrm>
          <a:prstGeom prst="rect">
            <a:avLst/>
          </a:prstGeom>
        </p:spPr>
      </p:pic>
      <p:sp>
        <p:nvSpPr>
          <p:cNvPr id="9" name="Rectangle 8"/>
          <p:cNvSpPr/>
          <p:nvPr/>
        </p:nvSpPr>
        <p:spPr>
          <a:xfrm>
            <a:off x="9418320" y="1188720"/>
            <a:ext cx="2377440" cy="493776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0" y="1371600"/>
            <a:ext cx="2194560" cy="457200"/>
          </a:xfrm>
          <a:prstGeom prst="rect">
            <a:avLst/>
          </a:prstGeom>
          <a:noFill/>
        </p:spPr>
        <p:txBody>
          <a:bodyPr wrap="square" lIns="0" rIns="0" tIns="0" bIns="0" anchor="t">
            <a:spAutoFit/>
          </a:bodyPr>
          <a:lstStyle/>
          <a:p>
            <a:pPr algn="l"/>
            <a:r>
              <a:rPr sz="1300" b="1">
                <a:solidFill>
                  <a:srgbClr val="1F4E79"/>
                </a:solidFill>
                <a:latin typeface="Calibri"/>
              </a:rPr>
              <a:t>Simulación</a:t>
            </a:r>
          </a:p>
        </p:txBody>
      </p:sp>
      <p:sp>
        <p:nvSpPr>
          <p:cNvPr id="11" name="TextBox 10"/>
          <p:cNvSpPr txBox="1"/>
          <p:nvPr/>
        </p:nvSpPr>
        <p:spPr>
          <a:xfrm>
            <a:off x="9509760" y="1828800"/>
            <a:ext cx="2194560" cy="1371600"/>
          </a:xfrm>
          <a:prstGeom prst="rect">
            <a:avLst/>
          </a:prstGeom>
          <a:noFill/>
        </p:spPr>
        <p:txBody>
          <a:bodyPr wrap="square" lIns="0" rIns="0" tIns="0" bIns="0" anchor="t">
            <a:spAutoFit/>
          </a:bodyPr>
          <a:lstStyle/>
          <a:p>
            <a:pPr algn="l"/>
            <a:r>
              <a:rPr sz="1100" b="0">
                <a:solidFill>
                  <a:srgbClr val="222B3A"/>
                </a:solidFill>
                <a:latin typeface="Calibri"/>
              </a:rPr>
              <a:t>Escenario base: reducción del 10 % del gasto del subgrupo. Se evalúan también 5 % y 20 %.</a:t>
            </a:r>
          </a:p>
        </p:txBody>
      </p:sp>
      <p:sp>
        <p:nvSpPr>
          <p:cNvPr id="12" name="TextBox 11"/>
          <p:cNvSpPr txBox="1"/>
          <p:nvPr/>
        </p:nvSpPr>
        <p:spPr>
          <a:xfrm>
            <a:off x="9509760" y="3200400"/>
            <a:ext cx="2194560" cy="365760"/>
          </a:xfrm>
          <a:prstGeom prst="rect">
            <a:avLst/>
          </a:prstGeom>
          <a:noFill/>
        </p:spPr>
        <p:txBody>
          <a:bodyPr wrap="square" lIns="0" rIns="0" tIns="0" bIns="0" anchor="t">
            <a:spAutoFit/>
          </a:bodyPr>
          <a:lstStyle/>
          <a:p>
            <a:pPr algn="l"/>
            <a:r>
              <a:rPr sz="1200" b="1">
                <a:solidFill>
                  <a:srgbClr val="6B7484"/>
                </a:solidFill>
                <a:latin typeface="Calibri"/>
              </a:rPr>
              <a:t>Ahorro</a:t>
            </a:r>
          </a:p>
        </p:txBody>
      </p:sp>
      <p:sp>
        <p:nvSpPr>
          <p:cNvPr id="13" name="TextBox 12"/>
          <p:cNvSpPr txBox="1"/>
          <p:nvPr/>
        </p:nvSpPr>
        <p:spPr>
          <a:xfrm>
            <a:off x="9509760" y="3520440"/>
            <a:ext cx="2194560" cy="457200"/>
          </a:xfrm>
          <a:prstGeom prst="rect">
            <a:avLst/>
          </a:prstGeom>
          <a:noFill/>
        </p:spPr>
        <p:txBody>
          <a:bodyPr wrap="square" lIns="0" rIns="0" tIns="0" bIns="0" anchor="t">
            <a:spAutoFit/>
          </a:bodyPr>
          <a:lstStyle/>
          <a:p>
            <a:pPr algn="l"/>
            <a:r>
              <a:rPr sz="1700" b="1">
                <a:solidFill>
                  <a:srgbClr val="2E8B57"/>
                </a:solidFill>
                <a:latin typeface="Calibri"/>
              </a:rPr>
              <a:t>US$ 600.376</a:t>
            </a:r>
          </a:p>
        </p:txBody>
      </p:sp>
      <p:sp>
        <p:nvSpPr>
          <p:cNvPr id="14" name="TextBox 13"/>
          <p:cNvSpPr txBox="1"/>
          <p:nvPr/>
        </p:nvSpPr>
        <p:spPr>
          <a:xfrm>
            <a:off x="9509760" y="4160520"/>
            <a:ext cx="2194560" cy="365760"/>
          </a:xfrm>
          <a:prstGeom prst="rect">
            <a:avLst/>
          </a:prstGeom>
          <a:noFill/>
        </p:spPr>
        <p:txBody>
          <a:bodyPr wrap="square" lIns="0" rIns="0" tIns="0" bIns="0" anchor="t">
            <a:spAutoFit/>
          </a:bodyPr>
          <a:lstStyle/>
          <a:p>
            <a:pPr algn="l"/>
            <a:r>
              <a:rPr sz="1200" b="1">
                <a:solidFill>
                  <a:srgbClr val="6B7484"/>
                </a:solidFill>
                <a:latin typeface="Calibri"/>
              </a:rPr>
              <a:t>ROI vs Alt. A</a:t>
            </a:r>
          </a:p>
        </p:txBody>
      </p:sp>
      <p:sp>
        <p:nvSpPr>
          <p:cNvPr id="15" name="TextBox 14"/>
          <p:cNvSpPr txBox="1"/>
          <p:nvPr/>
        </p:nvSpPr>
        <p:spPr>
          <a:xfrm>
            <a:off x="9509760" y="4480560"/>
            <a:ext cx="2194560" cy="457200"/>
          </a:xfrm>
          <a:prstGeom prst="rect">
            <a:avLst/>
          </a:prstGeom>
          <a:noFill/>
        </p:spPr>
        <p:txBody>
          <a:bodyPr wrap="square" lIns="0" rIns="0" tIns="0" bIns="0" anchor="t">
            <a:spAutoFit/>
          </a:bodyPr>
          <a:lstStyle/>
          <a:p>
            <a:pPr algn="l"/>
            <a:r>
              <a:rPr sz="2400" b="1">
                <a:solidFill>
                  <a:srgbClr val="E67E22"/>
                </a:solidFill>
                <a:latin typeface="Calibri"/>
              </a:rPr>
              <a:t>11,1×</a:t>
            </a:r>
          </a:p>
        </p:txBody>
      </p:sp>
      <p:sp>
        <p:nvSpPr>
          <p:cNvPr id="16" name="TextBox 15"/>
          <p:cNvSpPr txBox="1"/>
          <p:nvPr/>
        </p:nvSpPr>
        <p:spPr>
          <a:xfrm>
            <a:off x="9509760" y="5212080"/>
            <a:ext cx="2194560" cy="914400"/>
          </a:xfrm>
          <a:prstGeom prst="rect">
            <a:avLst/>
          </a:prstGeom>
          <a:noFill/>
        </p:spPr>
        <p:txBody>
          <a:bodyPr wrap="square" lIns="0" rIns="0" tIns="0" bIns="0" anchor="t">
            <a:spAutoFit/>
          </a:bodyPr>
          <a:lstStyle/>
          <a:p>
            <a:pPr algn="l"/>
            <a:r>
              <a:rPr sz="1000" b="0">
                <a:solidFill>
                  <a:srgbClr val="222B3A"/>
                </a:solidFill>
                <a:latin typeface="Calibri"/>
              </a:rPr>
              <a:t>Aun en el escenario pesimista (5 %) la Alt. A rinde 5,6×. El ROI mide el proyecto analítico, no el programa clínico.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0058400" cy="548640"/>
          </a:xfrm>
          <a:prstGeom prst="rect">
            <a:avLst/>
          </a:prstGeom>
          <a:noFill/>
        </p:spPr>
        <p:txBody>
          <a:bodyPr wrap="square" lIns="0" rIns="0" tIns="0" bIns="0" anchor="ctr">
            <a:spAutoFit/>
          </a:bodyPr>
          <a:lstStyle/>
          <a:p>
            <a:pPr algn="l"/>
            <a:r>
              <a:rPr sz="2400" b="1">
                <a:solidFill>
                  <a:srgbClr val="FFFFFF"/>
                </a:solidFill>
                <a:latin typeface="Calibri"/>
              </a:rPr>
              <a:t>Matriz de riesgos y estrategias de mitigación</a:t>
            </a:r>
          </a:p>
        </p:txBody>
      </p:sp>
      <p:sp>
        <p:nvSpPr>
          <p:cNvPr id="5" name="TextBox 4"/>
          <p:cNvSpPr txBox="1"/>
          <p:nvPr/>
        </p:nvSpPr>
        <p:spPr>
          <a:xfrm>
            <a:off x="457200" y="960120"/>
            <a:ext cx="10058400" cy="365760"/>
          </a:xfrm>
          <a:prstGeom prst="rect">
            <a:avLst/>
          </a:prstGeom>
          <a:noFill/>
        </p:spPr>
        <p:txBody>
          <a:bodyPr wrap="square" lIns="0" rIns="0" tIns="0" bIns="0" anchor="ctr">
            <a:spAutoFit/>
          </a:bodyPr>
          <a:lstStyle/>
          <a:p>
            <a:pPr algn="l"/>
            <a:r>
              <a:rPr sz="1300" b="0">
                <a:solidFill>
                  <a:srgbClr val="6B7484"/>
                </a:solidFill>
                <a:latin typeface="Calibri"/>
              </a:rPr>
              <a:t>Probabilidad × Impacto — 8 riesgos identificados</a:t>
            </a:r>
          </a:p>
        </p:txBody>
      </p:sp>
      <p:sp>
        <p:nvSpPr>
          <p:cNvPr id="6" name="TextBox 5"/>
          <p:cNvSpPr txBox="1"/>
          <p:nvPr/>
        </p:nvSpPr>
        <p:spPr>
          <a:xfrm>
            <a:off x="10972800" y="137160"/>
            <a:ext cx="1005840" cy="548640"/>
          </a:xfrm>
          <a:prstGeom prst="rect">
            <a:avLst/>
          </a:prstGeom>
          <a:noFill/>
        </p:spPr>
        <p:txBody>
          <a:bodyPr wrap="square" lIns="0" rIns="0" tIns="0" bIns="0" anchor="ctr">
            <a:spAutoFit/>
          </a:bodyPr>
          <a:lstStyle/>
          <a:p>
            <a:pPr algn="r"/>
            <a:r>
              <a:rPr sz="1300" b="1">
                <a:solidFill>
                  <a:srgbClr val="FFFFFF"/>
                </a:solidFill>
                <a:latin typeface="Calibri"/>
              </a:rPr>
              <a:t>9/10</a:t>
            </a:r>
          </a:p>
        </p:txBody>
      </p:sp>
      <p:sp>
        <p:nvSpPr>
          <p:cNvPr id="7" name="TextBox 6"/>
          <p:cNvSpPr txBox="1"/>
          <p:nvPr/>
        </p:nvSpPr>
        <p:spPr>
          <a:xfrm>
            <a:off x="457200" y="6446520"/>
            <a:ext cx="10972800" cy="320040"/>
          </a:xfrm>
          <a:prstGeom prst="rect">
            <a:avLst/>
          </a:prstGeom>
          <a:noFill/>
        </p:spPr>
        <p:txBody>
          <a:bodyPr wrap="square" lIns="0" rIns="0" tIns="0" bIns="0" anchor="t">
            <a:spAutoFit/>
          </a:bodyPr>
          <a:lstStyle/>
          <a:p>
            <a:pPr algn="l"/>
            <a:r>
              <a:rPr sz="900" b="0">
                <a:solidFill>
                  <a:srgbClr val="6B7484"/>
                </a:solidFill>
                <a:latin typeface="Calibri"/>
              </a:rPr>
              <a:t>SCY1102 · Gestión de Proyectos de Datos · Caso 2 Salud · Medina · Arriagada · Tapia · Ponce · Duoc UC 2026</a:t>
            </a:r>
          </a:p>
        </p:txBody>
      </p:sp>
      <p:pic>
        <p:nvPicPr>
          <p:cNvPr id="8" name="Picture 7" descr="g5_matriz_riesgos.png"/>
          <p:cNvPicPr>
            <a:picLocks noChangeAspect="1"/>
          </p:cNvPicPr>
          <p:nvPr/>
        </p:nvPicPr>
        <p:blipFill>
          <a:blip r:embed="rId2"/>
          <a:stretch>
            <a:fillRect/>
          </a:stretch>
        </p:blipFill>
        <p:spPr>
          <a:xfrm>
            <a:off x="457200" y="1417320"/>
            <a:ext cx="6627408" cy="4937760"/>
          </a:xfrm>
          <a:prstGeom prst="rect">
            <a:avLst/>
          </a:prstGeom>
        </p:spPr>
      </p:pic>
      <p:sp>
        <p:nvSpPr>
          <p:cNvPr id="9" name="Rectangle 8"/>
          <p:cNvSpPr/>
          <p:nvPr/>
        </p:nvSpPr>
        <p:spPr>
          <a:xfrm>
            <a:off x="6675120" y="1280160"/>
            <a:ext cx="5029200" cy="493776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0" y="1417320"/>
            <a:ext cx="4754880" cy="365760"/>
          </a:xfrm>
          <a:prstGeom prst="rect">
            <a:avLst/>
          </a:prstGeom>
          <a:noFill/>
        </p:spPr>
        <p:txBody>
          <a:bodyPr wrap="square" lIns="0" rIns="0" tIns="0" bIns="0" anchor="t">
            <a:spAutoFit/>
          </a:bodyPr>
          <a:lstStyle/>
          <a:p>
            <a:pPr algn="l"/>
            <a:r>
              <a:rPr sz="1500" b="1">
                <a:solidFill>
                  <a:srgbClr val="1F4E79"/>
                </a:solidFill>
                <a:latin typeface="Calibri"/>
              </a:rPr>
              <a:t>Riesgos + mitigación</a:t>
            </a:r>
          </a:p>
        </p:txBody>
      </p:sp>
      <p:sp>
        <p:nvSpPr>
          <p:cNvPr id="11" name="Rectangle 10"/>
          <p:cNvSpPr/>
          <p:nvPr/>
        </p:nvSpPr>
        <p:spPr>
          <a:xfrm>
            <a:off x="6858000" y="1874519"/>
            <a:ext cx="502920" cy="3657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0" y="1874519"/>
            <a:ext cx="502920" cy="365760"/>
          </a:xfrm>
          <a:prstGeom prst="rect">
            <a:avLst/>
          </a:prstGeom>
          <a:noFill/>
        </p:spPr>
        <p:txBody>
          <a:bodyPr wrap="square" lIns="0" rIns="0" tIns="0" bIns="0" anchor="ctr">
            <a:spAutoFit/>
          </a:bodyPr>
          <a:lstStyle/>
          <a:p>
            <a:pPr algn="ctr"/>
            <a:r>
              <a:rPr sz="1100" b="1">
                <a:solidFill>
                  <a:srgbClr val="FFFFFF"/>
                </a:solidFill>
                <a:latin typeface="Calibri"/>
              </a:rPr>
              <a:t>R1</a:t>
            </a:r>
          </a:p>
        </p:txBody>
      </p:sp>
      <p:sp>
        <p:nvSpPr>
          <p:cNvPr id="13" name="TextBox 12"/>
          <p:cNvSpPr txBox="1"/>
          <p:nvPr/>
        </p:nvSpPr>
        <p:spPr>
          <a:xfrm>
            <a:off x="7452360" y="1874519"/>
            <a:ext cx="4206240" cy="365760"/>
          </a:xfrm>
          <a:prstGeom prst="rect">
            <a:avLst/>
          </a:prstGeom>
          <a:noFill/>
        </p:spPr>
        <p:txBody>
          <a:bodyPr wrap="square" lIns="0" rIns="0" tIns="0" bIns="0" anchor="ctr">
            <a:spAutoFit/>
          </a:bodyPr>
          <a:lstStyle/>
          <a:p>
            <a:pPr algn="l"/>
            <a:r>
              <a:rPr sz="1000" b="0">
                <a:solidFill>
                  <a:srgbClr val="222B3A"/>
                </a:solidFill>
                <a:latin typeface="Calibri"/>
              </a:rPr>
              <a:t>Discriminación IMC/sexo/región → auditoría fairness</a:t>
            </a:r>
          </a:p>
        </p:txBody>
      </p:sp>
      <p:sp>
        <p:nvSpPr>
          <p:cNvPr id="14" name="Rectangle 13"/>
          <p:cNvSpPr/>
          <p:nvPr/>
        </p:nvSpPr>
        <p:spPr>
          <a:xfrm>
            <a:off x="6858000" y="2377439"/>
            <a:ext cx="502920" cy="3657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0" y="2377439"/>
            <a:ext cx="502920" cy="365760"/>
          </a:xfrm>
          <a:prstGeom prst="rect">
            <a:avLst/>
          </a:prstGeom>
          <a:noFill/>
        </p:spPr>
        <p:txBody>
          <a:bodyPr wrap="square" lIns="0" rIns="0" tIns="0" bIns="0" anchor="ctr">
            <a:spAutoFit/>
          </a:bodyPr>
          <a:lstStyle/>
          <a:p>
            <a:pPr algn="ctr"/>
            <a:r>
              <a:rPr sz="1100" b="1">
                <a:solidFill>
                  <a:srgbClr val="FFFFFF"/>
                </a:solidFill>
                <a:latin typeface="Calibri"/>
              </a:rPr>
              <a:t>R2</a:t>
            </a:r>
          </a:p>
        </p:txBody>
      </p:sp>
      <p:sp>
        <p:nvSpPr>
          <p:cNvPr id="16" name="TextBox 15"/>
          <p:cNvSpPr txBox="1"/>
          <p:nvPr/>
        </p:nvSpPr>
        <p:spPr>
          <a:xfrm>
            <a:off x="7452360" y="2377439"/>
            <a:ext cx="4206240" cy="365760"/>
          </a:xfrm>
          <a:prstGeom prst="rect">
            <a:avLst/>
          </a:prstGeom>
          <a:noFill/>
        </p:spPr>
        <p:txBody>
          <a:bodyPr wrap="square" lIns="0" rIns="0" tIns="0" bIns="0" anchor="ctr">
            <a:spAutoFit/>
          </a:bodyPr>
          <a:lstStyle/>
          <a:p>
            <a:pPr algn="l"/>
            <a:r>
              <a:rPr sz="1000" b="0">
                <a:solidFill>
                  <a:srgbClr val="222B3A"/>
                </a:solidFill>
                <a:latin typeface="Calibri"/>
              </a:rPr>
              <a:t>Fuga datos salud → AES-256, k-anonymity, DPO</a:t>
            </a:r>
          </a:p>
        </p:txBody>
      </p:sp>
      <p:sp>
        <p:nvSpPr>
          <p:cNvPr id="17" name="Rectangle 16"/>
          <p:cNvSpPr/>
          <p:nvPr/>
        </p:nvSpPr>
        <p:spPr>
          <a:xfrm>
            <a:off x="6858000" y="2880359"/>
            <a:ext cx="502920" cy="3657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0" y="2880359"/>
            <a:ext cx="502920" cy="365760"/>
          </a:xfrm>
          <a:prstGeom prst="rect">
            <a:avLst/>
          </a:prstGeom>
          <a:noFill/>
        </p:spPr>
        <p:txBody>
          <a:bodyPr wrap="square" lIns="0" rIns="0" tIns="0" bIns="0" anchor="ctr">
            <a:spAutoFit/>
          </a:bodyPr>
          <a:lstStyle/>
          <a:p>
            <a:pPr algn="ctr"/>
            <a:r>
              <a:rPr sz="1100" b="1">
                <a:solidFill>
                  <a:srgbClr val="FFFFFF"/>
                </a:solidFill>
                <a:latin typeface="Calibri"/>
              </a:rPr>
              <a:t>R3</a:t>
            </a:r>
          </a:p>
        </p:txBody>
      </p:sp>
      <p:sp>
        <p:nvSpPr>
          <p:cNvPr id="19" name="TextBox 18"/>
          <p:cNvSpPr txBox="1"/>
          <p:nvPr/>
        </p:nvSpPr>
        <p:spPr>
          <a:xfrm>
            <a:off x="7452360" y="2880359"/>
            <a:ext cx="4206240" cy="365760"/>
          </a:xfrm>
          <a:prstGeom prst="rect">
            <a:avLst/>
          </a:prstGeom>
          <a:noFill/>
        </p:spPr>
        <p:txBody>
          <a:bodyPr wrap="square" lIns="0" rIns="0" tIns="0" bIns="0" anchor="ctr">
            <a:spAutoFit/>
          </a:bodyPr>
          <a:lstStyle/>
          <a:p>
            <a:pPr algn="l"/>
            <a:r>
              <a:rPr sz="1000" b="0">
                <a:solidFill>
                  <a:srgbClr val="222B3A"/>
                </a:solidFill>
                <a:latin typeface="Calibri"/>
              </a:rPr>
              <a:t>Sesgo sub-representación → recalibrar con datos CL</a:t>
            </a:r>
          </a:p>
        </p:txBody>
      </p:sp>
      <p:sp>
        <p:nvSpPr>
          <p:cNvPr id="20" name="Rectangle 19"/>
          <p:cNvSpPr/>
          <p:nvPr/>
        </p:nvSpPr>
        <p:spPr>
          <a:xfrm>
            <a:off x="6858000" y="3383279"/>
            <a:ext cx="502920" cy="365760"/>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0" y="3383279"/>
            <a:ext cx="502920" cy="365760"/>
          </a:xfrm>
          <a:prstGeom prst="rect">
            <a:avLst/>
          </a:prstGeom>
          <a:noFill/>
        </p:spPr>
        <p:txBody>
          <a:bodyPr wrap="square" lIns="0" rIns="0" tIns="0" bIns="0" anchor="ctr">
            <a:spAutoFit/>
          </a:bodyPr>
          <a:lstStyle/>
          <a:p>
            <a:pPr algn="ctr"/>
            <a:r>
              <a:rPr sz="1100" b="1">
                <a:solidFill>
                  <a:srgbClr val="FFFFFF"/>
                </a:solidFill>
                <a:latin typeface="Calibri"/>
              </a:rPr>
              <a:t>R4</a:t>
            </a:r>
          </a:p>
        </p:txBody>
      </p:sp>
      <p:sp>
        <p:nvSpPr>
          <p:cNvPr id="22" name="TextBox 21"/>
          <p:cNvSpPr txBox="1"/>
          <p:nvPr/>
        </p:nvSpPr>
        <p:spPr>
          <a:xfrm>
            <a:off x="7452360" y="3383279"/>
            <a:ext cx="4206240" cy="365760"/>
          </a:xfrm>
          <a:prstGeom prst="rect">
            <a:avLst/>
          </a:prstGeom>
          <a:noFill/>
        </p:spPr>
        <p:txBody>
          <a:bodyPr wrap="square" lIns="0" rIns="0" tIns="0" bIns="0" anchor="ctr">
            <a:spAutoFit/>
          </a:bodyPr>
          <a:lstStyle/>
          <a:p>
            <a:pPr algn="l"/>
            <a:r>
              <a:rPr sz="1000" b="0">
                <a:solidFill>
                  <a:srgbClr val="222B3A"/>
                </a:solidFill>
                <a:latin typeface="Calibri"/>
              </a:rPr>
              <a:t>Data drift → monitoreo PSI y re-entrenamiento 6m</a:t>
            </a:r>
          </a:p>
        </p:txBody>
      </p:sp>
      <p:sp>
        <p:nvSpPr>
          <p:cNvPr id="23" name="Rectangle 22"/>
          <p:cNvSpPr/>
          <p:nvPr/>
        </p:nvSpPr>
        <p:spPr>
          <a:xfrm>
            <a:off x="6858000" y="3886199"/>
            <a:ext cx="502920" cy="365760"/>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0" y="3886199"/>
            <a:ext cx="502920" cy="365760"/>
          </a:xfrm>
          <a:prstGeom prst="rect">
            <a:avLst/>
          </a:prstGeom>
          <a:noFill/>
        </p:spPr>
        <p:txBody>
          <a:bodyPr wrap="square" lIns="0" rIns="0" tIns="0" bIns="0" anchor="ctr">
            <a:spAutoFit/>
          </a:bodyPr>
          <a:lstStyle/>
          <a:p>
            <a:pPr algn="ctr"/>
            <a:r>
              <a:rPr sz="1100" b="1">
                <a:solidFill>
                  <a:srgbClr val="FFFFFF"/>
                </a:solidFill>
                <a:latin typeface="Calibri"/>
              </a:rPr>
              <a:t>R5</a:t>
            </a:r>
          </a:p>
        </p:txBody>
      </p:sp>
      <p:sp>
        <p:nvSpPr>
          <p:cNvPr id="25" name="TextBox 24"/>
          <p:cNvSpPr txBox="1"/>
          <p:nvPr/>
        </p:nvSpPr>
        <p:spPr>
          <a:xfrm>
            <a:off x="7452360" y="3886199"/>
            <a:ext cx="4206240" cy="365760"/>
          </a:xfrm>
          <a:prstGeom prst="rect">
            <a:avLst/>
          </a:prstGeom>
          <a:noFill/>
        </p:spPr>
        <p:txBody>
          <a:bodyPr wrap="square" lIns="0" rIns="0" tIns="0" bIns="0" anchor="ctr">
            <a:spAutoFit/>
          </a:bodyPr>
          <a:lstStyle/>
          <a:p>
            <a:pPr algn="l"/>
            <a:r>
              <a:rPr sz="1000" b="0">
                <a:solidFill>
                  <a:srgbClr val="222B3A"/>
                </a:solidFill>
                <a:latin typeface="Calibri"/>
              </a:rPr>
              <a:t>Sobrecosto cloud → alertas 70/90 %, RI 1 año</a:t>
            </a:r>
          </a:p>
        </p:txBody>
      </p:sp>
      <p:sp>
        <p:nvSpPr>
          <p:cNvPr id="26" name="Rectangle 25"/>
          <p:cNvSpPr/>
          <p:nvPr/>
        </p:nvSpPr>
        <p:spPr>
          <a:xfrm>
            <a:off x="6858000" y="4389119"/>
            <a:ext cx="502920" cy="365760"/>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0" y="4389119"/>
            <a:ext cx="502920" cy="365760"/>
          </a:xfrm>
          <a:prstGeom prst="rect">
            <a:avLst/>
          </a:prstGeom>
          <a:noFill/>
        </p:spPr>
        <p:txBody>
          <a:bodyPr wrap="square" lIns="0" rIns="0" tIns="0" bIns="0" anchor="ctr">
            <a:spAutoFit/>
          </a:bodyPr>
          <a:lstStyle/>
          <a:p>
            <a:pPr algn="ctr"/>
            <a:r>
              <a:rPr sz="1100" b="1">
                <a:solidFill>
                  <a:srgbClr val="FFFFFF"/>
                </a:solidFill>
                <a:latin typeface="Calibri"/>
              </a:rPr>
              <a:t>R6</a:t>
            </a:r>
          </a:p>
        </p:txBody>
      </p:sp>
      <p:sp>
        <p:nvSpPr>
          <p:cNvPr id="28" name="TextBox 27"/>
          <p:cNvSpPr txBox="1"/>
          <p:nvPr/>
        </p:nvSpPr>
        <p:spPr>
          <a:xfrm>
            <a:off x="7452360" y="4389119"/>
            <a:ext cx="4206240" cy="365760"/>
          </a:xfrm>
          <a:prstGeom prst="rect">
            <a:avLst/>
          </a:prstGeom>
          <a:noFill/>
        </p:spPr>
        <p:txBody>
          <a:bodyPr wrap="square" lIns="0" rIns="0" tIns="0" bIns="0" anchor="ctr">
            <a:spAutoFit/>
          </a:bodyPr>
          <a:lstStyle/>
          <a:p>
            <a:pPr algn="l"/>
            <a:r>
              <a:rPr sz="1000" b="0">
                <a:solidFill>
                  <a:srgbClr val="222B3A"/>
                </a:solidFill>
                <a:latin typeface="Calibri"/>
              </a:rPr>
              <a:t>Sanción legal → SHAP + canal humano apelación</a:t>
            </a:r>
          </a:p>
        </p:txBody>
      </p:sp>
      <p:sp>
        <p:nvSpPr>
          <p:cNvPr id="29" name="Rectangle 28"/>
          <p:cNvSpPr/>
          <p:nvPr/>
        </p:nvSpPr>
        <p:spPr>
          <a:xfrm>
            <a:off x="6858000" y="4892039"/>
            <a:ext cx="502920" cy="36576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0" y="4892039"/>
            <a:ext cx="502920" cy="365760"/>
          </a:xfrm>
          <a:prstGeom prst="rect">
            <a:avLst/>
          </a:prstGeom>
          <a:noFill/>
        </p:spPr>
        <p:txBody>
          <a:bodyPr wrap="square" lIns="0" rIns="0" tIns="0" bIns="0" anchor="ctr">
            <a:spAutoFit/>
          </a:bodyPr>
          <a:lstStyle/>
          <a:p>
            <a:pPr algn="ctr"/>
            <a:r>
              <a:rPr sz="1100" b="1">
                <a:solidFill>
                  <a:srgbClr val="FFFFFF"/>
                </a:solidFill>
                <a:latin typeface="Calibri"/>
              </a:rPr>
              <a:t>R7</a:t>
            </a:r>
          </a:p>
        </p:txBody>
      </p:sp>
      <p:sp>
        <p:nvSpPr>
          <p:cNvPr id="31" name="TextBox 30"/>
          <p:cNvSpPr txBox="1"/>
          <p:nvPr/>
        </p:nvSpPr>
        <p:spPr>
          <a:xfrm>
            <a:off x="7452360" y="4892039"/>
            <a:ext cx="4206240" cy="365760"/>
          </a:xfrm>
          <a:prstGeom prst="rect">
            <a:avLst/>
          </a:prstGeom>
          <a:noFill/>
        </p:spPr>
        <p:txBody>
          <a:bodyPr wrap="square" lIns="0" rIns="0" tIns="0" bIns="0" anchor="ctr">
            <a:spAutoFit/>
          </a:bodyPr>
          <a:lstStyle/>
          <a:p>
            <a:pPr algn="l"/>
            <a:r>
              <a:rPr sz="1000" b="0">
                <a:solidFill>
                  <a:srgbClr val="222B3A"/>
                </a:solidFill>
                <a:latin typeface="Calibri"/>
              </a:rPr>
              <a:t>Fallo legacy → pruebas integración sprint 1</a:t>
            </a:r>
          </a:p>
        </p:txBody>
      </p:sp>
      <p:sp>
        <p:nvSpPr>
          <p:cNvPr id="32" name="Rectangle 31"/>
          <p:cNvSpPr/>
          <p:nvPr/>
        </p:nvSpPr>
        <p:spPr>
          <a:xfrm>
            <a:off x="6858000" y="5394959"/>
            <a:ext cx="502920" cy="365760"/>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58000" y="5394959"/>
            <a:ext cx="502920" cy="365760"/>
          </a:xfrm>
          <a:prstGeom prst="rect">
            <a:avLst/>
          </a:prstGeom>
          <a:noFill/>
        </p:spPr>
        <p:txBody>
          <a:bodyPr wrap="square" lIns="0" rIns="0" tIns="0" bIns="0" anchor="ctr">
            <a:spAutoFit/>
          </a:bodyPr>
          <a:lstStyle/>
          <a:p>
            <a:pPr algn="ctr"/>
            <a:r>
              <a:rPr sz="1100" b="1">
                <a:solidFill>
                  <a:srgbClr val="FFFFFF"/>
                </a:solidFill>
                <a:latin typeface="Calibri"/>
              </a:rPr>
              <a:t>R8</a:t>
            </a:r>
          </a:p>
        </p:txBody>
      </p:sp>
      <p:sp>
        <p:nvSpPr>
          <p:cNvPr id="34" name="TextBox 33"/>
          <p:cNvSpPr txBox="1"/>
          <p:nvPr/>
        </p:nvSpPr>
        <p:spPr>
          <a:xfrm>
            <a:off x="7452360" y="5394959"/>
            <a:ext cx="4206240" cy="365760"/>
          </a:xfrm>
          <a:prstGeom prst="rect">
            <a:avLst/>
          </a:prstGeom>
          <a:noFill/>
        </p:spPr>
        <p:txBody>
          <a:bodyPr wrap="square" lIns="0" rIns="0" tIns="0" bIns="0" anchor="ctr">
            <a:spAutoFit/>
          </a:bodyPr>
          <a:lstStyle/>
          <a:p>
            <a:pPr algn="l"/>
            <a:r>
              <a:rPr sz="1000" b="0">
                <a:solidFill>
                  <a:srgbClr val="222B3A"/>
                </a:solidFill>
                <a:latin typeface="Calibri"/>
              </a:rPr>
              <a:t>Rotación DS → documentación viva, pair prog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54864"/>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0058400" cy="548640"/>
          </a:xfrm>
          <a:prstGeom prst="rect">
            <a:avLst/>
          </a:prstGeom>
          <a:noFill/>
        </p:spPr>
        <p:txBody>
          <a:bodyPr wrap="square" lIns="0" rIns="0" tIns="0" bIns="0" anchor="ctr">
            <a:spAutoFit/>
          </a:bodyPr>
          <a:lstStyle/>
          <a:p>
            <a:pPr algn="l"/>
            <a:r>
              <a:rPr sz="2400" b="1">
                <a:solidFill>
                  <a:srgbClr val="FFFFFF"/>
                </a:solidFill>
                <a:latin typeface="Calibri"/>
              </a:rPr>
              <a:t>Conclusión y recomendación final</a:t>
            </a:r>
          </a:p>
        </p:txBody>
      </p:sp>
      <p:sp>
        <p:nvSpPr>
          <p:cNvPr id="5" name="TextBox 4"/>
          <p:cNvSpPr txBox="1"/>
          <p:nvPr/>
        </p:nvSpPr>
        <p:spPr>
          <a:xfrm>
            <a:off x="10972800" y="137160"/>
            <a:ext cx="1005840" cy="548640"/>
          </a:xfrm>
          <a:prstGeom prst="rect">
            <a:avLst/>
          </a:prstGeom>
          <a:noFill/>
        </p:spPr>
        <p:txBody>
          <a:bodyPr wrap="square" lIns="0" rIns="0" tIns="0" bIns="0" anchor="ctr">
            <a:spAutoFit/>
          </a:bodyPr>
          <a:lstStyle/>
          <a:p>
            <a:pPr algn="r"/>
            <a:r>
              <a:rPr sz="1300" b="1">
                <a:solidFill>
                  <a:srgbClr val="FFFFFF"/>
                </a:solidFill>
                <a:latin typeface="Calibri"/>
              </a:rPr>
              <a:t>10/10</a:t>
            </a:r>
          </a:p>
        </p:txBody>
      </p:sp>
      <p:sp>
        <p:nvSpPr>
          <p:cNvPr id="6" name="TextBox 5"/>
          <p:cNvSpPr txBox="1"/>
          <p:nvPr/>
        </p:nvSpPr>
        <p:spPr>
          <a:xfrm>
            <a:off x="457200" y="6446520"/>
            <a:ext cx="10972800" cy="320040"/>
          </a:xfrm>
          <a:prstGeom prst="rect">
            <a:avLst/>
          </a:prstGeom>
          <a:noFill/>
        </p:spPr>
        <p:txBody>
          <a:bodyPr wrap="square" lIns="0" rIns="0" tIns="0" bIns="0" anchor="t">
            <a:spAutoFit/>
          </a:bodyPr>
          <a:lstStyle/>
          <a:p>
            <a:pPr algn="l"/>
            <a:r>
              <a:rPr sz="900" b="0">
                <a:solidFill>
                  <a:srgbClr val="6B7484"/>
                </a:solidFill>
                <a:latin typeface="Calibri"/>
              </a:rPr>
              <a:t>SCY1102 · Gestión de Proyectos de Datos · Caso 2 Salud · Medina · Arriagada · Tapia · Ponce · Duoc UC 2026</a:t>
            </a:r>
          </a:p>
        </p:txBody>
      </p:sp>
      <p:sp>
        <p:nvSpPr>
          <p:cNvPr id="7" name="Rectangle 6"/>
          <p:cNvSpPr/>
          <p:nvPr/>
        </p:nvSpPr>
        <p:spPr>
          <a:xfrm>
            <a:off x="548640" y="1371600"/>
            <a:ext cx="11109960" cy="155448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508760"/>
            <a:ext cx="10515600" cy="457200"/>
          </a:xfrm>
          <a:prstGeom prst="rect">
            <a:avLst/>
          </a:prstGeom>
          <a:noFill/>
        </p:spPr>
        <p:txBody>
          <a:bodyPr wrap="square" lIns="0" rIns="0" tIns="0" bIns="0" anchor="t">
            <a:spAutoFit/>
          </a:bodyPr>
          <a:lstStyle/>
          <a:p>
            <a:pPr algn="l"/>
            <a:r>
              <a:rPr sz="1800" b="1">
                <a:solidFill>
                  <a:srgbClr val="1F4E79"/>
                </a:solidFill>
                <a:latin typeface="Calibri"/>
              </a:rPr>
              <a:t>El proyecto es VIABLE bajo salvaguardas éticas y legales robustas.</a:t>
            </a:r>
          </a:p>
        </p:txBody>
      </p:sp>
      <p:sp>
        <p:nvSpPr>
          <p:cNvPr id="9" name="TextBox 8"/>
          <p:cNvSpPr txBox="1"/>
          <p:nvPr/>
        </p:nvSpPr>
        <p:spPr>
          <a:xfrm>
            <a:off x="822960" y="1965960"/>
            <a:ext cx="10515600" cy="914400"/>
          </a:xfrm>
          <a:prstGeom prst="rect">
            <a:avLst/>
          </a:prstGeom>
          <a:noFill/>
        </p:spPr>
        <p:txBody>
          <a:bodyPr wrap="square" lIns="0" rIns="0" tIns="0" bIns="0" anchor="t">
            <a:spAutoFit/>
          </a:bodyPr>
          <a:lstStyle/>
          <a:p>
            <a:pPr algn="l"/>
            <a:r>
              <a:rPr sz="1300" b="0">
                <a:solidFill>
                  <a:srgbClr val="222B3A"/>
                </a:solidFill>
                <a:latin typeface="Calibri"/>
              </a:rPr>
              <a:t>Todas las cifras están respaldadas en el Anexo Técnico (Jupyter Notebook). Los perfiles de mayor gasto (fumadores obesos, mayores de 50) permiten ahorros sustanciales vía prevención focalizada, SIN tarificar primas individuales.</a:t>
            </a:r>
          </a:p>
        </p:txBody>
      </p:sp>
      <p:sp>
        <p:nvSpPr>
          <p:cNvPr id="10" name="Rectangle 9"/>
          <p:cNvSpPr/>
          <p:nvPr/>
        </p:nvSpPr>
        <p:spPr>
          <a:xfrm>
            <a:off x="548640" y="3200400"/>
            <a:ext cx="3657600" cy="2194560"/>
          </a:xfrm>
          <a:prstGeom prst="rect">
            <a:avLst/>
          </a:prstGeom>
          <a:solidFill>
            <a:srgbClr val="FFFFFF"/>
          </a:solidFill>
          <a:ln>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3200400"/>
            <a:ext cx="3657600" cy="54864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3200400"/>
            <a:ext cx="3657600" cy="548640"/>
          </a:xfrm>
          <a:prstGeom prst="rect">
            <a:avLst/>
          </a:prstGeom>
          <a:noFill/>
        </p:spPr>
        <p:txBody>
          <a:bodyPr wrap="square" lIns="0" rIns="0" tIns="0" bIns="0" anchor="ctr">
            <a:spAutoFit/>
          </a:bodyPr>
          <a:lstStyle/>
          <a:p>
            <a:pPr algn="ctr"/>
            <a:r>
              <a:rPr sz="1600" b="1">
                <a:solidFill>
                  <a:srgbClr val="FFFFFF"/>
                </a:solidFill>
                <a:latin typeface="Calibri"/>
              </a:rPr>
              <a:t>1. Alternativa A</a:t>
            </a:r>
          </a:p>
        </p:txBody>
      </p:sp>
      <p:sp>
        <p:nvSpPr>
          <p:cNvPr id="13" name="TextBox 12"/>
          <p:cNvSpPr txBox="1"/>
          <p:nvPr/>
        </p:nvSpPr>
        <p:spPr>
          <a:xfrm>
            <a:off x="822960" y="3886200"/>
            <a:ext cx="3108960" cy="1371600"/>
          </a:xfrm>
          <a:prstGeom prst="rect">
            <a:avLst/>
          </a:prstGeom>
          <a:noFill/>
        </p:spPr>
        <p:txBody>
          <a:bodyPr wrap="square" lIns="0" rIns="0" tIns="0" bIns="0" anchor="t">
            <a:spAutoFit/>
          </a:bodyPr>
          <a:lstStyle/>
          <a:p>
            <a:pPr algn="l"/>
            <a:r>
              <a:rPr sz="1300" b="0">
                <a:solidFill>
                  <a:srgbClr val="222B3A"/>
                </a:solidFill>
                <a:latin typeface="Calibri"/>
              </a:rPr>
              <a:t>AWS + Python open source</a:t>
            </a:r>
          </a:p>
          <a:p>
            <a:pPr algn="l"/>
            <a:r>
              <a:rPr sz="1300" b="0">
                <a:solidFill>
                  <a:srgbClr val="222B3A"/>
                </a:solidFill>
                <a:latin typeface="Calibri"/>
              </a:rPr>
              <a:t>US$ 54.000/año · ROI 11,1×</a:t>
            </a:r>
          </a:p>
        </p:txBody>
      </p:sp>
      <p:sp>
        <p:nvSpPr>
          <p:cNvPr id="14" name="Rectangle 13"/>
          <p:cNvSpPr/>
          <p:nvPr/>
        </p:nvSpPr>
        <p:spPr>
          <a:xfrm>
            <a:off x="4325112" y="3200400"/>
            <a:ext cx="3657600" cy="2194560"/>
          </a:xfrm>
          <a:prstGeom prst="rect">
            <a:avLst/>
          </a:prstGeom>
          <a:solidFill>
            <a:srgbClr val="FFFFFF"/>
          </a:solidFill>
          <a:ln>
            <a:solidFill>
              <a:srgbClr val="E67E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25112" y="3200400"/>
            <a:ext cx="3657600" cy="548640"/>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25112" y="3200400"/>
            <a:ext cx="3657600" cy="548640"/>
          </a:xfrm>
          <a:prstGeom prst="rect">
            <a:avLst/>
          </a:prstGeom>
          <a:noFill/>
        </p:spPr>
        <p:txBody>
          <a:bodyPr wrap="square" lIns="0" rIns="0" tIns="0" bIns="0" anchor="ctr">
            <a:spAutoFit/>
          </a:bodyPr>
          <a:lstStyle/>
          <a:p>
            <a:pPr algn="ctr"/>
            <a:r>
              <a:rPr sz="1600" b="1">
                <a:solidFill>
                  <a:srgbClr val="FFFFFF"/>
                </a:solidFill>
                <a:latin typeface="Calibri"/>
              </a:rPr>
              <a:t>2. Piloto 6 meses</a:t>
            </a:r>
          </a:p>
        </p:txBody>
      </p:sp>
      <p:sp>
        <p:nvSpPr>
          <p:cNvPr id="17" name="TextBox 16"/>
          <p:cNvSpPr txBox="1"/>
          <p:nvPr/>
        </p:nvSpPr>
        <p:spPr>
          <a:xfrm>
            <a:off x="4599432" y="3886200"/>
            <a:ext cx="3108960" cy="1371600"/>
          </a:xfrm>
          <a:prstGeom prst="rect">
            <a:avLst/>
          </a:prstGeom>
          <a:noFill/>
        </p:spPr>
        <p:txBody>
          <a:bodyPr wrap="square" lIns="0" rIns="0" tIns="0" bIns="0" anchor="t">
            <a:spAutoFit/>
          </a:bodyPr>
          <a:lstStyle/>
          <a:p>
            <a:pPr algn="l"/>
            <a:r>
              <a:rPr sz="1300" b="0">
                <a:solidFill>
                  <a:srgbClr val="222B3A"/>
                </a:solidFill>
                <a:latin typeface="Calibri"/>
              </a:rPr>
              <a:t>Reportes agregados</a:t>
            </a:r>
          </a:p>
          <a:p>
            <a:pPr algn="l"/>
            <a:r>
              <a:rPr sz="1300" b="0">
                <a:solidFill>
                  <a:srgbClr val="222B3A"/>
                </a:solidFill>
                <a:latin typeface="Calibri"/>
              </a:rPr>
              <a:t>NO decisiones individuales</a:t>
            </a:r>
          </a:p>
        </p:txBody>
      </p:sp>
      <p:sp>
        <p:nvSpPr>
          <p:cNvPr id="18" name="Rectangle 17"/>
          <p:cNvSpPr/>
          <p:nvPr/>
        </p:nvSpPr>
        <p:spPr>
          <a:xfrm>
            <a:off x="8101584" y="3200400"/>
            <a:ext cx="3657600" cy="2194560"/>
          </a:xfrm>
          <a:prstGeom prst="rect">
            <a:avLst/>
          </a:prstGeom>
          <a:solidFill>
            <a:srgbClr val="FFFFFF"/>
          </a:solidFill>
          <a:ln>
            <a:solidFill>
              <a:srgbClr val="2E8B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01584" y="3200400"/>
            <a:ext cx="3657600" cy="54864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01584" y="3200400"/>
            <a:ext cx="3657600" cy="548640"/>
          </a:xfrm>
          <a:prstGeom prst="rect">
            <a:avLst/>
          </a:prstGeom>
          <a:noFill/>
        </p:spPr>
        <p:txBody>
          <a:bodyPr wrap="square" lIns="0" rIns="0" tIns="0" bIns="0" anchor="ctr">
            <a:spAutoFit/>
          </a:bodyPr>
          <a:lstStyle/>
          <a:p>
            <a:pPr algn="ctr"/>
            <a:r>
              <a:rPr sz="1600" b="1">
                <a:solidFill>
                  <a:srgbClr val="FFFFFF"/>
                </a:solidFill>
                <a:latin typeface="Calibri"/>
              </a:rPr>
              <a:t>3. Comité independiente</a:t>
            </a:r>
          </a:p>
        </p:txBody>
      </p:sp>
      <p:sp>
        <p:nvSpPr>
          <p:cNvPr id="21" name="TextBox 20"/>
          <p:cNvSpPr txBox="1"/>
          <p:nvPr/>
        </p:nvSpPr>
        <p:spPr>
          <a:xfrm>
            <a:off x="8375904" y="3886200"/>
            <a:ext cx="3108960" cy="1371600"/>
          </a:xfrm>
          <a:prstGeom prst="rect">
            <a:avLst/>
          </a:prstGeom>
          <a:noFill/>
        </p:spPr>
        <p:txBody>
          <a:bodyPr wrap="square" lIns="0" rIns="0" tIns="0" bIns="0" anchor="t">
            <a:spAutoFit/>
          </a:bodyPr>
          <a:lstStyle/>
          <a:p>
            <a:pPr algn="l"/>
            <a:r>
              <a:rPr sz="1300" b="0">
                <a:solidFill>
                  <a:srgbClr val="222B3A"/>
                </a:solidFill>
                <a:latin typeface="Calibri"/>
              </a:rPr>
              <a:t>Métricas equidad, ROI real</a:t>
            </a:r>
          </a:p>
          <a:p>
            <a:pPr algn="l"/>
            <a:r>
              <a:rPr sz="1300" b="0">
                <a:solidFill>
                  <a:srgbClr val="222B3A"/>
                </a:solidFill>
                <a:latin typeface="Calibri"/>
              </a:rPr>
              <a:t>y cumplimiento normativo</a:t>
            </a:r>
          </a:p>
        </p:txBody>
      </p:sp>
      <p:sp>
        <p:nvSpPr>
          <p:cNvPr id="22" name="Rectangle 21"/>
          <p:cNvSpPr/>
          <p:nvPr/>
        </p:nvSpPr>
        <p:spPr>
          <a:xfrm>
            <a:off x="548640" y="5623560"/>
            <a:ext cx="11109960" cy="50292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5623560"/>
            <a:ext cx="11109960" cy="502920"/>
          </a:xfrm>
          <a:prstGeom prst="rect">
            <a:avLst/>
          </a:prstGeom>
          <a:noFill/>
        </p:spPr>
        <p:txBody>
          <a:bodyPr wrap="square" lIns="0" rIns="0" tIns="0" bIns="0" anchor="ctr">
            <a:spAutoFit/>
          </a:bodyPr>
          <a:lstStyle/>
          <a:p>
            <a:pPr algn="ctr"/>
            <a:r>
              <a:rPr sz="1200" b="1">
                <a:solidFill>
                  <a:srgbClr val="FFFFFF"/>
                </a:solidFill>
                <a:latin typeface="Calibri"/>
              </a:rPr>
              <a:t>Anexo técnico: Anexo_Analisis_Caso2.ipynb — reproducible con Kernel &gt; Restart &amp; Run All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